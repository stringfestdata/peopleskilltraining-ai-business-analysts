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9" r:id="rId30"/>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WELCOME - say this while people are still joining.
SAY: "Welcome in. This is a do-it-with-me session, not a watch-me session. In the next 60 minutes we are going to take a messy data export and turn it into a finished, narrated report using AI - together, live."
DO NOW (critical setup): Ask everyone to do two things before we go: (1) open ChatGPT in a browser tab, (2) download the two sample files - sales_export_messy.csv and crm_accounts.csv - linked at the top of the Exercise Workbook.
SAY: "If you can only do one thing, open ChatGPT. You can follow the data parts on my screen."
TONE: warm, brisk. Don't read the slide.
CROSSWALK: Files + all prompts live in the Exercise Workbook (the .docx). Keep it open beside ChatGPT.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[0:30-4:00] THE HOOK - get a nod of recognition before any tools.
SAY: "Be honest in the chat - what share of your reporting time is actually analysis, versus cleaning and formatting? For most analysts the answer lands between 60 and 80% on the grunt work."
DO: Glance at chat, read one or two numbers aloud. Makes it a conversation.
SAY: "These four buckets on the right are where the hours disappear. Every one is something AI is now genuinely good at. That's the session - we attack these four, live."
TRANSITION: "But before we touch a tool, we need a map - because AI does NOT help equally everywhere."
KEEP IT TIGHT: ~3.5 minutes. No war stories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[4:00-6:00] THE ROADMAP - set expectations so nobody is lost later.
SAY: "Here's our hour. Six things. The first four in teal are the doing - we build a finished report from raw data. The last two in amber are the guardrails: keeping your data safe and trusting nothing you don't verify."
DO: Point out each numbered card maps to a numbered Exercise in the workbook. "Card 1 = Exercise 1. You never have to guess where we are."
SAY: "Everything is tool-agnostic, but I'll demo in ChatGPT because it's what most of you have open. The prompts work the same in Copilot or Claude."
CROSSWALK: Workbook 'Session Map' page mirrors these six cards.
TRANSITION: "Map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 SECTION 1 of 4.
SAY: "Two minutes of map, then we start doing. The single biggest mistake people make with AI is using it everywhere equally. The skill is knowing what to delegate and what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[6:00-10:00] THE MAP - the conceptual backbone of the session.
DO: Walk left to right, tap each box.
SAY: "Six stages of any recurring report. Notice the colors. Green stages - Clean, Reconcile, Build, Narrate - are mechanical. They follow rules. AI eats those for breakfast, and those are exactly the four we do live today."
SAY: "The grey stages - Export and, crucially, Analyze - are where YOU live. Deciding what the numbers mean, what's worth flagging, what the stakeholder needs: that's judgment. Don't outsource it."
KEY LINE (slowly): "AI changes how long the boring parts take. It does not change who's responsible for the answer."
TRANSITION: "Let me boil that into one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[10:00-12:00] THE ANCHOR - short, deliberate, let it breathe.
SAY: "If you forget everything else: delegate the grunt work, keep the judgment."
SAY: "A simple test - does the task have a right answer you could check? Cleaning a date column does. Let AI do it and verify. Does it need a point of view - what to recommend, what to worry about? That stays yours."
DO: Pause. Then: "Okay - enough theory. Open ChatGPT and that messy file. We're cleaning real data."
TRANSITION -&gt; Exercise 1.
CROSSWALK: This rule is printed atop every exercise in the workbook as the 'verify' reminder.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 EXERCISE 1 BEGINS - the longest live block (~12 min). Heart of the session.
SAY: "This is Exercise 1 in your workbook. Have sales_export_messy.csv ready and ChatGPT open. We do it together - I'll go a half-step ahead so you can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[12:00-15:00] DIAGNOSE FIRST - resist prompting immediately.
DO: Open the CSV on screen (or describe it). Scroll slowly.
SAY: "Before we ask AI for anything, name the problems out loud - this is the verify mindset starting early. Six issues: four date formats, inconsistent casing, trailing spaces you can't even see, blank values, three spellings of the same category, dollar signs on only some numbers."
KEY POINT: "A good prompt NAMES the outcome. Vague prompt, vague cleanup. We're about to be specific."
CROSSWALK: Workbook Exercise 1 'What's wrong' table matches this slide exactly.
WATCH CLOCK: ~3 min, then go to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[15:00-21:00] THE LIVE CLEANUP - slowest, most valuable six minutes. Type, don't just talk.</a:t>
            </a:r>
          </a:p>
          <a:p>
            <a:r>
              <a:t>DO: Paste the CSV contents into ChatGPT, then paste this prompt. Read it aloud as you go.</a:t>
            </a:r>
          </a:p>
          <a:p>
            <a:r>
              <a:t>SAY (as it runs): "Notice what this does that 'clean this up' never would - it gives a target for every problem we listed, and rule 6 is the safety rule: do NOT guess missing values."</a:t>
            </a:r>
          </a:p>
          <a:p>
            <a:r>
              <a:t>DO: When output appears, scroll to the 'assumptions' list. "This is gold - it just told us what it decided on its own. That's our verification starting point."</a:t>
            </a:r>
          </a:p>
          <a:p>
            <a:r>
              <a:t>COMMON HICCUP: If it invents numbers for blank rows: "See - that's why we forbade it. Re-run with rule 6 emphasized." Great teachable moment, don't hide it.</a:t>
            </a:r>
          </a:p>
          <a:p>
            <a:r>
              <a:t>ENGAGE: Ask chat "did yours flag the blank rows?"</a:t>
            </a:r>
          </a:p>
          <a:p>
            <a:r>
              <a:t>CROSSWALK: This exact prompt is in Workbook Exercise 1, step 2 - copy/paste, don't retype.</a:t>
            </a:r>
          </a:p>
          <a:p>
            <a:r>
              <a:t>STRETCH (if ahead): run Appendix D Bonus 1 - a volunteer pastes a messy column from their own work and re-runs this exact cleanup prompt on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[21:00-24:00] VERIFY EXERCISE 1 - model the habit you want them to keep forever.
SAY: "We cleaned it in 30 seconds. Now we spend 30 seconds checking it, because cleaning is a green/AI task - which means VERIFY."
DO: Run the four checks live. Sum revenue (ask ChatGPT to total it, or eyeball). Count rows. Confirm blanks stayed blank.
KEY LINE: "A 30-second check beats a wrong number in front of your boss. Every time."
SAY: "That's the full clean-and-verify loop. You'll repeat it for everything else today."
TRANSITION: "The export is clean - but it's not the only file. Real reporting means reconciling sources." -&gt; Exercise 2.
CROSSWALK: Workbook Exercise 1 'Verify' checklist is identical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[24:00] EXERCISE 2 BEGINS (~9 min). Second file needed: crm_accounts.csv.
SAY: "Exercise 2. The classic reporting nightmare - two systems, same companies, different spellings. Your sales export says 'Acme Corp'; your CRM says 'Acme Corporation'. A VLOOKUP returns #N/A and your afternoon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[24:00-27:00] SHOW THE PAIN - make them feel the #N/A.
DO: Put both files side by side. Point to a pair: "'Acme Corp' here, 'Acme Corporation' there. To you, obviously the same company. To Excel, two different strings - VLOOKUP returns #N/A."
SAY: "AI is unusually good here because it reads these the way you do - by meaning, not by exact characters."
CAUTION (set it up now): "But this is also where AI can quietly make mistakes - it might match two companies that are NOT the same. So this exercise has the heaviest verify step. Hold that thought."
CROSSWALK: Workbook Exercise 2 lists these pairs; second file is crm_accounts.csv.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[27:00-33:00] LIVE MATCH + THE BIG CAUTION. ~6 min.</a:t>
            </a:r>
          </a:p>
          <a:p>
            <a:r>
              <a:t>DO: Paste the prompt, then List A (cleaned customer names) and List B (CRM account names). Run it.</a:t>
            </a:r>
          </a:p>
          <a:p>
            <a:r>
              <a:t>SAY: "The magic move is the Confidence column. We're not just asking it to match - we're asking it to tell us where it's unsure, so our eyes go straight there."</a:t>
            </a:r>
          </a:p>
          <a:p>
            <a:r>
              <a:t>DO: When the table appears, read the Confidence column aloud. Find any Med/Low and inspect.</a:t>
            </a:r>
          </a:p>
          <a:p>
            <a:r>
              <a:t>KEY POINT (firmly): "This is the riskiest task in the whole hour. AI will happily match two different companies. The confidence column tells you WHERE to look - it does not excuse you from looking. Reconcile is a green task, so: verify."</a:t>
            </a:r>
          </a:p>
          <a:p>
            <a:r>
              <a:t>ENGAGE: "Anyone get a wrong match? Drop it in chat." Celebrate catches - that's the skill.</a:t>
            </a:r>
          </a:p>
          <a:p>
            <a:r>
              <a:t>CROSSWALK: Workbook Exercise 2, steps 2-3.</a:t>
            </a:r>
          </a:p>
          <a:p>
            <a:r>
              <a:t>TRANSITION: "Data's clean and reconciled. Now the Excel mechanics." -&gt; Exercise 3.</a:t>
            </a:r>
          </a:p>
          <a:p>
            <a:r>
              <a:t>STRETCH (if ahead): run Appendix D Bonus 2 - pick a Low-confidence match and ask AI to justify it and say what would make it more sure.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[33:00] EXERCISE 3 (~9 min). No new file - we use the cleaned data.
SAY: "Exercise 3. You no longer have to remember exactly how to write an Excel formula. You describe what you want in plain English and AI writes it for you. But you have to describe it well - and you have to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[33:00-42:00] LIVE FORMULAS. ~9 min. Do the formula live.</a:t>
            </a:r>
          </a:p>
          <a:p>
            <a:r>
              <a:t>DO: Paste the left prompt into ChatGPT. You'll likely get SUMIF. Copy it into Excel on a couple of rows.</a:t>
            </a:r>
          </a:p>
          <a:p>
            <a:r>
              <a:t>SAY: "Two things make this work: I named the columns (C and G) and I named the result. 'Write me a formula' gets guesswork; this gets SUMIF that actually fits my sheet."</a:t>
            </a:r>
          </a:p>
          <a:p>
            <a:r>
              <a:t>DO (if time): Run the right-hand prompt - paste the formula back and have AI explain it in plain English. Great way to check a formula you did not write yourself.</a:t>
            </a:r>
          </a:p>
          <a:p>
            <a:r>
              <a:t>KEY LINE: "A wrong formula is confidently wrong - it returns a number, just the wrong one. Test on rows where you already know the answer."</a:t>
            </a:r>
          </a:p>
          <a:p>
            <a:r>
              <a:t>TIME MGMT: If running long, do the formula live and point to the workbook for the rest.</a:t>
            </a:r>
          </a:p>
          <a:p>
            <a:r>
              <a:t>CROSSWALK: Workbook Exercise 3 has both prompts + a 'test it' checklist.</a:t>
            </a:r>
          </a:p>
          <a:p>
            <a:r>
              <a:t>TRANSITION: "Numbers done. Now the part everyone dreads - the words." -&gt; Exercise 4.</a:t>
            </a:r>
          </a:p>
          <a:p>
            <a:r>
              <a:t>STRETCH (if ahead): run Appendix D Bonus 3 - ask for total Revenue per category ranked high-to-low and let AI pick the formula (or a pivot).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[42:00] EXERCISE 4 (~8 min). The crowd-pleaser - blank-page rescue.
SAY: "Exercise 4, the one people love most. The executive summary. The blank page at the top of every report. AI is excellent at the first draft - as long as you give it the numbers, not the spreadsheet."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[42:00-50:00] LIVE EXEC SUMMARY. ~8 min. The most satisfying demo - let them watch words appear.</a:t>
            </a:r>
          </a:p>
          <a:p>
            <a:r>
              <a:t>DO: Use real numbers from the cleaned data (or plausible ones: total revenue, top category, West lagging). Paste the prompt.</a:t>
            </a:r>
          </a:p>
          <a:p>
            <a:r>
              <a:t>SAY: "Three moves make this work. One - facts, not the spreadsheet. Two - I named the audience: a VP. Three - I forbade inventing numbers, because that's exactly what it would otherwise do."</a:t>
            </a:r>
          </a:p>
          <a:p>
            <a:r>
              <a:t>DO: Read the draft aloud. Then: "Perfect? No. A 90-second first draft instead of a 20-minute blank stare? Yes. You edit from here - that's your judgment, the grey box."</a:t>
            </a:r>
          </a:p>
          <a:p>
            <a:r>
              <a:t>ENGAGE: "Change the audience to 'the ops team' and watch the tone shift." Do it live if time - great 'aha'.</a:t>
            </a:r>
          </a:p>
          <a:p>
            <a:r>
              <a:t>KEY LINE: "AI gets you to a draft. You get it to done."</a:t>
            </a:r>
          </a:p>
          <a:p>
            <a:r>
              <a:t>CROSSWALK: Workbook Exercise 4 - prompt + a fill-in-the-blanks version.</a:t>
            </a:r>
          </a:p>
          <a:p>
            <a:r>
              <a:t>TRANSITION: "Same idea scales to charts and tables." -&gt; next.</a:t>
            </a:r>
          </a:p>
          <a:p>
            <a:r>
              <a:t>STRETCH (if ahead): run Appendix D Bonus 4 - re-run the summary for a different reader (e.g. the CFO) and read both versions back to back.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[50:00-52:00] COMPOUNDING - quick, 2 min. Tie the four exercises into a system.
SAY: "Everything we just did is reusable. The cleanup prompt isn't one-time - it's a template you paste next month against next month's mess."
SAY: "Add one line - 'use the same columns and chart type as last month' - and your recurring report stays consistent without you reformatting anything."
KEY LINE: "Do the work once, save the prompt, and the time savings compound across every report you produce."
CROSSWALK: Workbook Appendix A is a copy-paste prompt library of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[52:00] FINAL SECTION (~5 min). Don't skip even if behind - it makes adoption responsible.
SAY: "Two guardrails before we wrap. Non-negotiable - they separate 'fast' from 'reckless'."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[52:00-55:00] SENSITIVE DATA - say plainly and seriously. ~3 min.
SAY: "Speed is worthless if it gets you in trouble. Simple rule: assume anything you paste into a consumer AI tool could be seen by someone else."
DO: Walk the 'Don't' column, then the 'Do' column.
KEY LINE: "You almost never need the real names to get the help. Replace Acme Corp with 'Customer A'. The formula, the cleanup, the summary structure - all work identically on anonymized data."
SAY: "Check your company's policy once. Many orgs have an approved enterprise tool that's safe for internal data - use that for the real thing."
CALLBACK: "Notice our sample files are fake - on purpose. Practice on fake, apply the pattern to real data inside your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[55:00-57:00] VERIFY - the closing discipline. ~2 min.
SAY: "We verified after every exercise today on purpose. Here it is as one checklist you can tape to your monitor."
DO: Read the four fast.
KEY LINE (the one to leave them with): "AI gives you a confident answer every time - including when it's wrong. Your job didn't disappear; it moved from producing the number to standing behind it."
SAY: "If you can't explain how you know it's right, it's not ready to send."
TRANSITION: "Let's lock in what you'll actually do with this." -&gt;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[57:00-59:00] RECAP + HOMEWORK - make it a commitment, not a summary. ~2 min.
SAY: "Don't let this be a nice hour you forget by Friday. Homework: take ONE real report this week and run it through these five steps."
DO: Read the five quickly, tapping each.
KEY LINE: "You don't get faster by watching. You get faster by doing it once on your own data. Pick the report you dread most."
SAY: "Everything you need - prompts, checklists, sample files - is in the workbook. It's a recipe card, not notes."
TRANSITION -&gt; close +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[59:00-60:00] CLOSE + Q&amp;A.
SAY: "That's the hour. Delegate the grunt work, keep the judgment, verify everything. Let's take your questions."
HOLD THIS SLIDE for Q&amp;A.
PARKING-LOT ANSWERS (likely questions):
- "Which tool is best?" -&gt; "The one your company approves for your data. The prompts are portable across ChatGPT, Copilot, Claude."
- "Will it be wrong?" -&gt; "Sometimes, confidently. That's why every exercise today ended in a verify step."
- "Can it read my actual Excel file?" -&gt; "Yes - paste or upload, but mind Guardrail 1 on sensitive data first."
THANK THEM and point once more to the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 SLIDE - only show if you're ahead of the clock] Fully optional, ~3-8 min.</a:t>
            </a:r>
          </a:p>
          <a:p>
            <a:r>
              <a:t>SAY: "We're ahead - let's push one of these further. Pick whichever the room wants."</a:t>
            </a:r>
          </a:p>
          <a:p>
            <a:r>
              <a:t>These map to the four bonuses in Workbook Appendix D (copy-paste prompts there). Run as many as time allows.</a:t>
            </a:r>
          </a:p>
          <a:p>
            <a:r>
              <a:t>BONUS 1 - Clean your own data (Ex 1): a volunteer pastes a messy column from real work; re-run the cleanup prompt. Proves it's a reusable template.</a:t>
            </a:r>
          </a:p>
          <a:p>
            <a:r>
              <a:t>BONUS 2 - Make the match explain itself (Ex 2): take a Low-confidence pair, ask AI to justify it and say what would make it more sure. Reinforces verify.</a:t>
            </a:r>
          </a:p>
          <a:p>
            <a:r>
              <a:t>BONUS 3 - Rank the categories (Ex 3): ask for total Revenue per category, ranked - let AI pick the formula or a pivot. Describe the outcome, not the syntax.</a:t>
            </a:r>
          </a:p>
          <a:p>
            <a:r>
              <a:t>BONUS 4 - Switch the audience (Ex 4): re-run the exec summary for a CFO; read both versions back to back to show how one line rewrites the draft.</a:t>
            </a:r>
          </a:p>
          <a:p>
            <a:r>
              <a:t>STILL AHEAD? Use the 'If we're short on time' discussion questions at the end of Appendix D to close strong.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61520" cy="201168"/>
          </a:xfrm>
          <a:prstGeom prst="rect">
            <a:avLst/>
          </a:prstGeom>
          <a:solidFill>
            <a:srgbClr val="0D9488"/>
          </a:solidFill>
          <a:ln/>
        </p:spPr>
        <p:txBody>
          <a:bodyPr/>
          <a:p/>
        </p:txBody>
      </p:sp>
      <p:sp>
        <p:nvSpPr>
          <p:cNvPr id="3" name="Shape 1"/>
          <p:cNvSpPr/>
          <p:nvPr/>
        </p:nvSpPr>
        <p:spPr>
          <a:xfrm>
            <a:off x="0" y="6656832"/>
            <a:ext cx="12161520" cy="201168"/>
          </a:xfrm>
          <a:prstGeom prst="rect">
            <a:avLst/>
          </a:prstGeom>
          <a:solidFill>
            <a:srgbClr val="0D9488"/>
          </a:solidFill>
          <a:ln/>
        </p:spPr>
        <p:txBody>
          <a:bodyPr/>
          <a:p/>
        </p:txBody>
      </p:sp>
      <p:sp>
        <p:nvSpPr>
          <p:cNvPr id="4" name="Text 2"/>
          <p:cNvSpPr/>
          <p:nvPr/>
        </p:nvSpPr>
        <p:spPr>
          <a:xfrm>
            <a:off x="914400" y="1371600"/>
            <a:ext cx="10332720" cy="365760"/>
          </a:xfrm>
          <a:prstGeom prst="rect">
            <a:avLst/>
          </a:prstGeom>
          <a:noFill/>
          <a:ln/>
        </p:spPr>
        <p:txBody>
          <a:bodyPr wrap="square" lIns="0" tIns="0" rIns="0" bIns="0" rtlCol="0" anchor="ctr"/>
          <a:lstStyle/>
          <a:p>
            <a:pPr indent="0" marL="0">
              <a:buNone/>
            </a:pPr>
            <a:r>
              <a:rPr lang="en-US" sz="1400" b="1" spc="300" kern="0" dirty="0">
                <a:solidFill>
                  <a:srgbClr val="5EEAD4"/>
                </a:solidFill>
                <a:latin typeface="Calibri" pitchFamily="34" charset="0"/>
                <a:ea typeface="Calibri" pitchFamily="34" charset="-122"/>
                <a:cs typeface="Calibri" pitchFamily="34" charset="-120"/>
              </a:rPr>
              <a:t>LIVE 60-MINUTE WEBINAR  ·  WORK ALONG WITH ME</a:t>
            </a:r>
            <a:endParaRPr lang="en-US" sz="1400" dirty="0"/>
          </a:p>
        </p:txBody>
      </p:sp>
      <p:sp>
        <p:nvSpPr>
          <p:cNvPr id="5" name="Text 3"/>
          <p:cNvSpPr/>
          <p:nvPr/>
        </p:nvSpPr>
        <p:spPr>
          <a:xfrm>
            <a:off x="914400" y="1965960"/>
            <a:ext cx="10332720" cy="914400"/>
          </a:xfrm>
          <a:prstGeom prst="rect">
            <a:avLst/>
          </a:prstGeom>
          <a:noFill/>
          <a:ln/>
        </p:spPr>
        <p:txBody>
          <a:bodyPr wrap="square" lIns="0" tIns="0" rIns="0" bIns="0" rtlCol="0" anchor="ctr"/>
          <a:lstStyle/>
          <a:p>
            <a:pPr indent="0" marL="0">
              <a:buNone/>
            </a:pPr>
            <a:r>
              <a:rPr lang="en-US" sz="5000" b="1" dirty="0">
                <a:solidFill>
                  <a:srgbClr val="FFFFFF"/>
                </a:solidFill>
                <a:latin typeface="Georgia" pitchFamily="34" charset="0"/>
                <a:ea typeface="Georgia" pitchFamily="34" charset="-122"/>
                <a:cs typeface="Georgia" pitchFamily="34" charset="-120"/>
              </a:rPr>
              <a:t>AI for Business Analysts</a:t>
            </a:r>
            <a:endParaRPr lang="en-US" sz="5000" dirty="0"/>
          </a:p>
        </p:txBody>
      </p:sp>
      <p:sp>
        <p:nvSpPr>
          <p:cNvPr id="6" name="Text 4"/>
          <p:cNvSpPr/>
          <p:nvPr/>
        </p:nvSpPr>
        <p:spPr>
          <a:xfrm>
            <a:off x="914400" y="2971800"/>
            <a:ext cx="10332720" cy="731520"/>
          </a:xfrm>
          <a:prstGeom prst="rect">
            <a:avLst/>
          </a:prstGeom>
          <a:noFill/>
          <a:ln/>
        </p:spPr>
        <p:txBody>
          <a:bodyPr wrap="square" lIns="0" tIns="0" rIns="0" bIns="0" rtlCol="0" anchor="ctr"/>
          <a:lstStyle/>
          <a:p>
            <a:pPr indent="0" marL="0">
              <a:buNone/>
            </a:pPr>
            <a:r>
              <a:rPr lang="en-US" sz="3000" i="1" dirty="0">
                <a:solidFill>
                  <a:srgbClr val="0D9488"/>
                </a:solidFill>
                <a:latin typeface="Georgia" pitchFamily="34" charset="0"/>
                <a:ea typeface="Georgia" pitchFamily="34" charset="-122"/>
                <a:cs typeface="Georgia" pitchFamily="34" charset="-120"/>
              </a:rPr>
              <a:t>Faster Reporting and Data Cleanup</a:t>
            </a:r>
            <a:endParaRPr lang="en-US" sz="3000" dirty="0"/>
          </a:p>
        </p:txBody>
      </p:sp>
      <p:sp>
        <p:nvSpPr>
          <p:cNvPr id="7" name="Shape 5"/>
          <p:cNvSpPr/>
          <p:nvPr/>
        </p:nvSpPr>
        <p:spPr>
          <a:xfrm>
            <a:off x="932688" y="4069080"/>
            <a:ext cx="502920" cy="45720"/>
          </a:xfrm>
          <a:prstGeom prst="rect">
            <a:avLst/>
          </a:prstGeom>
          <a:solidFill>
            <a:srgbClr val="F59E0B"/>
          </a:solidFill>
          <a:ln/>
        </p:spPr>
        <p:txBody>
          <a:bodyPr/>
          <a:p/>
        </p:txBody>
      </p:sp>
      <p:sp>
        <p:nvSpPr>
          <p:cNvPr id="8" name="Text 6"/>
          <p:cNvSpPr/>
          <p:nvPr/>
        </p:nvSpPr>
        <p:spPr>
          <a:xfrm>
            <a:off x="914400" y="4297680"/>
            <a:ext cx="10058400" cy="548640"/>
          </a:xfrm>
          <a:prstGeom prst="rect">
            <a:avLst/>
          </a:prstGeom>
          <a:noFill/>
          <a:ln/>
        </p:spPr>
        <p:txBody>
          <a:bodyPr wrap="square" lIns="0" tIns="0" rIns="0" bIns="0" rtlCol="0" anchor="ctr"/>
          <a:lstStyle/>
          <a:p>
            <a:pPr indent="0" marL="0">
              <a:buNone/>
            </a:pPr>
            <a:r>
              <a:rPr lang="en-US" sz="1700" dirty="0">
                <a:solidFill>
                  <a:srgbClr val="CBD5E1"/>
                </a:solidFill>
                <a:latin typeface="Calibri" pitchFamily="34" charset="0"/>
                <a:ea typeface="Calibri" pitchFamily="34" charset="-122"/>
                <a:cs typeface="Calibri" pitchFamily="34" charset="-120"/>
              </a:rPr>
              <a:t>Take hours out of every reporting cycle — without handing over your judgment.</a:t>
            </a:r>
            <a:endParaRPr lang="en-US" sz="1700" dirty="0"/>
          </a:p>
        </p:txBody>
      </p:sp>
      <p:sp>
        <p:nvSpPr>
          <p:cNvPr id="9" name="Text 7"/>
          <p:cNvSpPr/>
          <p:nvPr/>
        </p:nvSpPr>
        <p:spPr>
          <a:xfrm>
            <a:off x="914400" y="5212080"/>
            <a:ext cx="103327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xml:space="preserve">Before we start:  </a:t>
            </a:r>
            <a:pPr indent="0" marL="0">
              <a:buNone/>
            </a:pPr>
            <a:r>
              <a:rPr lang="en-US" sz="1400" dirty="0">
                <a:solidFill>
                  <a:srgbClr val="CBD5E1"/>
                </a:solidFill>
                <a:latin typeface="Calibri" pitchFamily="34" charset="0"/>
                <a:ea typeface="Calibri" pitchFamily="34" charset="-122"/>
                <a:cs typeface="Calibri" pitchFamily="34" charset="-120"/>
              </a:rPr>
              <a:t>open ChatGPT in a browser tab  ·  download the two sample files from the workbook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417320"/>
          </a:xfrm>
          <a:prstGeom prst="rect">
            <a:avLst/>
          </a:prstGeom>
          <a:solidFill>
            <a:srgbClr val="FFFFFF"/>
          </a:solidFill>
          <a:ln/>
        </p:spPr>
        <p:txBody>
          <a:bodyPr/>
          <a:p/>
        </p:txBody>
      </p:sp>
      <p:sp>
        <p:nvSpPr>
          <p:cNvPr id="3" name="Shape 1"/>
          <p:cNvSpPr/>
          <p:nvPr/>
        </p:nvSpPr>
        <p:spPr>
          <a:xfrm>
            <a:off x="0" y="1417320"/>
            <a:ext cx="12161520" cy="45720"/>
          </a:xfrm>
          <a:prstGeom prst="rect">
            <a:avLst/>
          </a:prstGeom>
          <a:solidFill>
            <a:srgbClr val="0D9488"/>
          </a:solidFill>
          <a:ln/>
        </p:spPr>
        <p:txBody>
          <a:bodyPr/>
          <a:p/>
        </p:txBody>
      </p:sp>
      <p:sp>
        <p:nvSpPr>
          <p:cNvPr id="4" name="Text 2"/>
          <p:cNvSpPr/>
          <p:nvPr/>
        </p:nvSpPr>
        <p:spPr>
          <a:xfrm>
            <a:off x="548640" y="365760"/>
            <a:ext cx="86868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WHY THIS SESSION</a:t>
            </a:r>
            <a:endParaRPr lang="en-US" sz="1200" dirty="0"/>
          </a:p>
        </p:txBody>
      </p:sp>
      <p:sp>
        <p:nvSpPr>
          <p:cNvPr id="5" name="Text 3"/>
          <p:cNvSpPr/>
          <p:nvPr/>
        </p:nvSpPr>
        <p:spPr>
          <a:xfrm>
            <a:off x="548640" y="658368"/>
            <a:ext cx="9326880" cy="73152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Analysts analyze. Except when they don't.</a:t>
            </a:r>
            <a:endParaRPr lang="en-US" sz="2700" dirty="0"/>
          </a:p>
        </p:txBody>
      </p:sp>
      <p:sp>
        <p:nvSpPr>
          <p:cNvPr id="6" name="Shape 4"/>
          <p:cNvSpPr/>
          <p:nvPr/>
        </p:nvSpPr>
        <p:spPr>
          <a:xfrm>
            <a:off x="9921240" y="384048"/>
            <a:ext cx="1783080" cy="457200"/>
          </a:xfrm>
          <a:prstGeom prst="roundRect">
            <a:avLst>
              <a:gd name="adj" fmla="val 50000"/>
            </a:avLst>
          </a:prstGeom>
          <a:solidFill>
            <a:srgbClr val="E6F4F2"/>
          </a:solidFill>
          <a:ln/>
        </p:spPr>
        <p:txBody>
          <a:bodyPr/>
          <a:p/>
        </p:txBody>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0-4 min</a:t>
            </a:r>
            <a:endParaRPr lang="en-US" sz="1200" dirty="0"/>
          </a:p>
        </p:txBody>
      </p:sp>
      <p:sp>
        <p:nvSpPr>
          <p:cNvPr id="8" name="Shape 6"/>
          <p:cNvSpPr/>
          <p:nvPr/>
        </p:nvSpPr>
        <p:spPr>
          <a:xfrm>
            <a:off x="548640" y="1828800"/>
            <a:ext cx="4754880" cy="3657600"/>
          </a:xfrm>
          <a:prstGeom prst="roundRect">
            <a:avLst>
              <a:gd name="adj" fmla="val 3000"/>
            </a:avLst>
          </a:prstGeom>
          <a:solidFill>
            <a:srgbClr val="1E293B"/>
          </a:solidFill>
          <a:ln/>
          <a:effectLst>
            <a:outerShdw sx="100000" sy="100000" kx="0" ky="0" algn="bl" rotWithShape="0" blurRad="88900" dist="38100" dir="8100000">
              <a:srgbClr val="000000">
                <a:alpha val="12000"/>
              </a:srgbClr>
            </a:outerShdw>
          </a:effectLst>
        </p:spPr>
        <p:txBody>
          <a:bodyPr/>
          <a:p/>
        </p:txBody>
      </p:sp>
      <p:sp>
        <p:nvSpPr>
          <p:cNvPr id="9" name="Text 7"/>
          <p:cNvSpPr/>
          <p:nvPr/>
        </p:nvSpPr>
        <p:spPr>
          <a:xfrm>
            <a:off x="868680" y="2194560"/>
            <a:ext cx="4114800" cy="365760"/>
          </a:xfrm>
          <a:prstGeom prst="rect">
            <a:avLst/>
          </a:prstGeom>
          <a:noFill/>
          <a:ln/>
        </p:spPr>
        <p:txBody>
          <a:bodyPr wrap="square" lIns="0" tIns="0" rIns="0" bIns="0" rtlCol="0" anchor="ctr"/>
          <a:lstStyle/>
          <a:p>
            <a:pPr indent="0" marL="0">
              <a:buNone/>
            </a:pPr>
            <a:r>
              <a:rPr lang="en-US" sz="1400" dirty="0">
                <a:solidFill>
                  <a:srgbClr val="5EEAD4"/>
                </a:solidFill>
                <a:latin typeface="Calibri" pitchFamily="34" charset="0"/>
                <a:ea typeface="Calibri" pitchFamily="34" charset="-122"/>
                <a:cs typeface="Calibri" pitchFamily="34" charset="-120"/>
              </a:rPr>
              <a:t>Most of the time</a:t>
            </a:r>
            <a:endParaRPr lang="en-US" sz="1400" dirty="0"/>
          </a:p>
        </p:txBody>
      </p:sp>
      <p:sp>
        <p:nvSpPr>
          <p:cNvPr id="10" name="Text 8"/>
          <p:cNvSpPr/>
          <p:nvPr/>
        </p:nvSpPr>
        <p:spPr>
          <a:xfrm>
            <a:off x="822960" y="2514600"/>
            <a:ext cx="4297680" cy="1280160"/>
          </a:xfrm>
          <a:prstGeom prst="rect">
            <a:avLst/>
          </a:prstGeom>
          <a:noFill/>
          <a:ln/>
        </p:spPr>
        <p:txBody>
          <a:bodyPr wrap="square" lIns="0" tIns="0" rIns="0" bIns="0" rtlCol="0" anchor="ctr"/>
          <a:lstStyle/>
          <a:p>
            <a:pPr algn="l" indent="0" marL="0">
              <a:buNone/>
            </a:pPr>
            <a:r>
              <a:rPr lang="en-US" sz="7600" b="1" dirty="0">
                <a:solidFill>
                  <a:srgbClr val="FFFFFF"/>
                </a:solidFill>
                <a:latin typeface="Georgia" pitchFamily="34" charset="0"/>
                <a:ea typeface="Georgia" pitchFamily="34" charset="-122"/>
                <a:cs typeface="Georgia" pitchFamily="34" charset="-120"/>
              </a:rPr>
              <a:t>60-80%</a:t>
            </a:r>
            <a:endParaRPr lang="en-US" sz="7600" dirty="0"/>
          </a:p>
        </p:txBody>
      </p:sp>
      <p:sp>
        <p:nvSpPr>
          <p:cNvPr id="11" name="Text 9"/>
          <p:cNvSpPr/>
          <p:nvPr/>
        </p:nvSpPr>
        <p:spPr>
          <a:xfrm>
            <a:off x="868680" y="3886200"/>
            <a:ext cx="4114800" cy="128016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of analyst time goes to finding, cleaning, and formatting data - not analyzing it.</a:t>
            </a:r>
            <a:endParaRPr lang="en-US" sz="1600" dirty="0"/>
          </a:p>
        </p:txBody>
      </p:sp>
      <p:sp>
        <p:nvSpPr>
          <p:cNvPr id="12" name="Shape 10"/>
          <p:cNvSpPr/>
          <p:nvPr/>
        </p:nvSpPr>
        <p:spPr>
          <a:xfrm>
            <a:off x="5669280" y="1828800"/>
            <a:ext cx="5943600" cy="822960"/>
          </a:xfrm>
          <a:prstGeom prst="roundRect">
            <a:avLst>
              <a:gd name="adj" fmla="val 8889"/>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13" name="Shape 11"/>
          <p:cNvSpPr/>
          <p:nvPr/>
        </p:nvSpPr>
        <p:spPr>
          <a:xfrm>
            <a:off x="5852160" y="1988820"/>
            <a:ext cx="502920" cy="502920"/>
          </a:xfrm>
          <a:prstGeom prst="ellipse">
            <a:avLst/>
          </a:prstGeom>
          <a:solidFill>
            <a:srgbClr val="0D9488"/>
          </a:solidFill>
          <a:ln/>
        </p:spPr>
        <p:txBody>
          <a:bodyPr/>
          <a:p/>
        </p:txBody>
      </p:sp>
      <p:sp>
        <p:nvSpPr>
          <p:cNvPr id="14" name="Text 12"/>
          <p:cNvSpPr/>
          <p:nvPr/>
        </p:nvSpPr>
        <p:spPr>
          <a:xfrm>
            <a:off x="5852160" y="19888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Text 13"/>
          <p:cNvSpPr/>
          <p:nvPr/>
        </p:nvSpPr>
        <p:spPr>
          <a:xfrm>
            <a:off x="6537960" y="1938528"/>
            <a:ext cx="4937760" cy="310896"/>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Cleaning exports</a:t>
            </a:r>
            <a:endParaRPr lang="en-US" sz="1500" dirty="0"/>
          </a:p>
        </p:txBody>
      </p:sp>
      <p:sp>
        <p:nvSpPr>
          <p:cNvPr id="16" name="Text 14"/>
          <p:cNvSpPr/>
          <p:nvPr/>
        </p:nvSpPr>
        <p:spPr>
          <a:xfrm>
            <a:off x="6537960" y="2249424"/>
            <a:ext cx="4937760" cy="310896"/>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Dates, casing, blanks, stray symbols</a:t>
            </a:r>
            <a:endParaRPr lang="en-US" sz="1250" dirty="0"/>
          </a:p>
        </p:txBody>
      </p:sp>
      <p:sp>
        <p:nvSpPr>
          <p:cNvPr id="17" name="Shape 15"/>
          <p:cNvSpPr/>
          <p:nvPr/>
        </p:nvSpPr>
        <p:spPr>
          <a:xfrm>
            <a:off x="5669280" y="2770632"/>
            <a:ext cx="5943600" cy="822960"/>
          </a:xfrm>
          <a:prstGeom prst="roundRect">
            <a:avLst>
              <a:gd name="adj" fmla="val 8889"/>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18" name="Shape 16"/>
          <p:cNvSpPr/>
          <p:nvPr/>
        </p:nvSpPr>
        <p:spPr>
          <a:xfrm>
            <a:off x="5852160" y="2930652"/>
            <a:ext cx="502920" cy="502920"/>
          </a:xfrm>
          <a:prstGeom prst="ellipse">
            <a:avLst/>
          </a:prstGeom>
          <a:solidFill>
            <a:srgbClr val="0D9488"/>
          </a:solidFill>
          <a:ln/>
        </p:spPr>
        <p:txBody>
          <a:bodyPr/>
          <a:p/>
        </p:txBody>
      </p:sp>
      <p:sp>
        <p:nvSpPr>
          <p:cNvPr id="19" name="Text 17"/>
          <p:cNvSpPr/>
          <p:nvPr/>
        </p:nvSpPr>
        <p:spPr>
          <a:xfrm>
            <a:off x="5852160" y="29306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Text 18"/>
          <p:cNvSpPr/>
          <p:nvPr/>
        </p:nvSpPr>
        <p:spPr>
          <a:xfrm>
            <a:off x="6537960" y="2880360"/>
            <a:ext cx="4937760" cy="310896"/>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Reconciling files</a:t>
            </a:r>
            <a:endParaRPr lang="en-US" sz="1500" dirty="0"/>
          </a:p>
        </p:txBody>
      </p:sp>
      <p:sp>
        <p:nvSpPr>
          <p:cNvPr id="21" name="Text 19"/>
          <p:cNvSpPr/>
          <p:nvPr/>
        </p:nvSpPr>
        <p:spPr>
          <a:xfrm>
            <a:off x="6537960" y="3191256"/>
            <a:ext cx="4937760" cy="310896"/>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Names that almost match across systems</a:t>
            </a:r>
            <a:endParaRPr lang="en-US" sz="1250" dirty="0"/>
          </a:p>
        </p:txBody>
      </p:sp>
      <p:sp>
        <p:nvSpPr>
          <p:cNvPr id="22" name="Shape 20"/>
          <p:cNvSpPr/>
          <p:nvPr/>
        </p:nvSpPr>
        <p:spPr>
          <a:xfrm>
            <a:off x="5669280" y="3712464"/>
            <a:ext cx="5943600" cy="822960"/>
          </a:xfrm>
          <a:prstGeom prst="roundRect">
            <a:avLst>
              <a:gd name="adj" fmla="val 8889"/>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23" name="Shape 21"/>
          <p:cNvSpPr/>
          <p:nvPr/>
        </p:nvSpPr>
        <p:spPr>
          <a:xfrm>
            <a:off x="5852160" y="3872484"/>
            <a:ext cx="502920" cy="502920"/>
          </a:xfrm>
          <a:prstGeom prst="ellipse">
            <a:avLst/>
          </a:prstGeom>
          <a:solidFill>
            <a:srgbClr val="0D9488"/>
          </a:solidFill>
          <a:ln/>
        </p:spPr>
        <p:txBody>
          <a:bodyPr/>
          <a:p/>
        </p:txBody>
      </p:sp>
      <p:sp>
        <p:nvSpPr>
          <p:cNvPr id="24" name="Text 22"/>
          <p:cNvSpPr/>
          <p:nvPr/>
        </p:nvSpPr>
        <p:spPr>
          <a:xfrm>
            <a:off x="5852160" y="387248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Text 23"/>
          <p:cNvSpPr/>
          <p:nvPr/>
        </p:nvSpPr>
        <p:spPr>
          <a:xfrm>
            <a:off x="6537960" y="3822192"/>
            <a:ext cx="4937760" cy="310896"/>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Formatting reports</a:t>
            </a:r>
            <a:endParaRPr lang="en-US" sz="1500" dirty="0"/>
          </a:p>
        </p:txBody>
      </p:sp>
      <p:sp>
        <p:nvSpPr>
          <p:cNvPr id="26" name="Text 24"/>
          <p:cNvSpPr/>
          <p:nvPr/>
        </p:nvSpPr>
        <p:spPr>
          <a:xfrm>
            <a:off x="6537960" y="4133088"/>
            <a:ext cx="4937760" cy="310896"/>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Rebuilding the same layout every month</a:t>
            </a:r>
            <a:endParaRPr lang="en-US" sz="1250" dirty="0"/>
          </a:p>
        </p:txBody>
      </p:sp>
      <p:sp>
        <p:nvSpPr>
          <p:cNvPr id="27" name="Shape 25"/>
          <p:cNvSpPr/>
          <p:nvPr/>
        </p:nvSpPr>
        <p:spPr>
          <a:xfrm>
            <a:off x="5669280" y="4654296"/>
            <a:ext cx="5943600" cy="822960"/>
          </a:xfrm>
          <a:prstGeom prst="roundRect">
            <a:avLst>
              <a:gd name="adj" fmla="val 8889"/>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28" name="Shape 26"/>
          <p:cNvSpPr/>
          <p:nvPr/>
        </p:nvSpPr>
        <p:spPr>
          <a:xfrm>
            <a:off x="5852160" y="4814316"/>
            <a:ext cx="502920" cy="502920"/>
          </a:xfrm>
          <a:prstGeom prst="ellipse">
            <a:avLst/>
          </a:prstGeom>
          <a:solidFill>
            <a:srgbClr val="0D9488"/>
          </a:solidFill>
          <a:ln/>
        </p:spPr>
        <p:txBody>
          <a:bodyPr/>
          <a:p/>
        </p:txBody>
      </p:sp>
      <p:sp>
        <p:nvSpPr>
          <p:cNvPr id="29" name="Text 27"/>
          <p:cNvSpPr/>
          <p:nvPr/>
        </p:nvSpPr>
        <p:spPr>
          <a:xfrm>
            <a:off x="5852160" y="481431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0" name="Text 28"/>
          <p:cNvSpPr/>
          <p:nvPr/>
        </p:nvSpPr>
        <p:spPr>
          <a:xfrm>
            <a:off x="6537960" y="4764024"/>
            <a:ext cx="4937760" cy="310896"/>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Writing the narrative</a:t>
            </a:r>
            <a:endParaRPr lang="en-US" sz="1500" dirty="0"/>
          </a:p>
        </p:txBody>
      </p:sp>
      <p:sp>
        <p:nvSpPr>
          <p:cNvPr id="31" name="Text 29"/>
          <p:cNvSpPr/>
          <p:nvPr/>
        </p:nvSpPr>
        <p:spPr>
          <a:xfrm>
            <a:off x="6537960" y="5074920"/>
            <a:ext cx="4937760" cy="310896"/>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Staring at a blank executive summary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417320"/>
          </a:xfrm>
          <a:prstGeom prst="rect">
            <a:avLst/>
          </a:prstGeom>
          <a:solidFill>
            <a:srgbClr val="FFFFFF"/>
          </a:solidFill>
          <a:ln/>
        </p:spPr>
        <p:txBody>
          <a:bodyPr/>
          <a:p/>
        </p:txBody>
      </p:sp>
      <p:sp>
        <p:nvSpPr>
          <p:cNvPr id="3" name="Shape 1"/>
          <p:cNvSpPr/>
          <p:nvPr/>
        </p:nvSpPr>
        <p:spPr>
          <a:xfrm>
            <a:off x="0" y="1417320"/>
            <a:ext cx="12161520" cy="45720"/>
          </a:xfrm>
          <a:prstGeom prst="rect">
            <a:avLst/>
          </a:prstGeom>
          <a:solidFill>
            <a:srgbClr val="0D9488"/>
          </a:solidFill>
          <a:ln/>
        </p:spPr>
        <p:txBody>
          <a:bodyPr/>
          <a:p/>
        </p:txBody>
      </p:sp>
      <p:sp>
        <p:nvSpPr>
          <p:cNvPr id="4" name="Text 2"/>
          <p:cNvSpPr/>
          <p:nvPr/>
        </p:nvSpPr>
        <p:spPr>
          <a:xfrm>
            <a:off x="548640" y="365760"/>
            <a:ext cx="86868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TODAY</a:t>
            </a:r>
            <a:endParaRPr lang="en-US" sz="1200" dirty="0"/>
          </a:p>
        </p:txBody>
      </p:sp>
      <p:sp>
        <p:nvSpPr>
          <p:cNvPr id="5" name="Text 3"/>
          <p:cNvSpPr/>
          <p:nvPr/>
        </p:nvSpPr>
        <p:spPr>
          <a:xfrm>
            <a:off x="548640" y="658368"/>
            <a:ext cx="9326880" cy="73152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What you'll do in the next 60 minutes</a:t>
            </a:r>
            <a:endParaRPr lang="en-US" sz="2700" dirty="0"/>
          </a:p>
        </p:txBody>
      </p:sp>
      <p:sp>
        <p:nvSpPr>
          <p:cNvPr id="6" name="Shape 4"/>
          <p:cNvSpPr/>
          <p:nvPr/>
        </p:nvSpPr>
        <p:spPr>
          <a:xfrm>
            <a:off x="9921240" y="384048"/>
            <a:ext cx="1783080" cy="457200"/>
          </a:xfrm>
          <a:prstGeom prst="roundRect">
            <a:avLst>
              <a:gd name="adj" fmla="val 50000"/>
            </a:avLst>
          </a:prstGeom>
          <a:solidFill>
            <a:srgbClr val="E6F4F2"/>
          </a:solidFill>
          <a:ln/>
        </p:spPr>
        <p:txBody>
          <a:bodyPr/>
          <a:p/>
        </p:txBody>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4-6 min</a:t>
            </a:r>
            <a:endParaRPr lang="en-US" sz="1200" dirty="0"/>
          </a:p>
        </p:txBody>
      </p:sp>
      <p:sp>
        <p:nvSpPr>
          <p:cNvPr id="8" name="Shape 6"/>
          <p:cNvSpPr/>
          <p:nvPr/>
        </p:nvSpPr>
        <p:spPr>
          <a:xfrm>
            <a:off x="548640" y="1828800"/>
            <a:ext cx="3566160" cy="1691640"/>
          </a:xfrm>
          <a:prstGeom prst="roundRect">
            <a:avLst>
              <a:gd name="adj" fmla="val 5405"/>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9" name="Shape 7"/>
          <p:cNvSpPr/>
          <p:nvPr/>
        </p:nvSpPr>
        <p:spPr>
          <a:xfrm>
            <a:off x="548640" y="1828800"/>
            <a:ext cx="91440" cy="1691640"/>
          </a:xfrm>
          <a:prstGeom prst="rect">
            <a:avLst/>
          </a:prstGeom>
          <a:solidFill>
            <a:srgbClr val="0D9488"/>
          </a:solidFill>
          <a:ln/>
        </p:spPr>
        <p:txBody>
          <a:bodyPr/>
          <a:p/>
        </p:txBody>
      </p:sp>
      <p:sp>
        <p:nvSpPr>
          <p:cNvPr id="10" name="Shape 8"/>
          <p:cNvSpPr/>
          <p:nvPr/>
        </p:nvSpPr>
        <p:spPr>
          <a:xfrm>
            <a:off x="841248" y="2103120"/>
            <a:ext cx="502920" cy="502920"/>
          </a:xfrm>
          <a:prstGeom prst="ellipse">
            <a:avLst/>
          </a:prstGeom>
          <a:solidFill>
            <a:srgbClr val="0D9488"/>
          </a:solidFill>
          <a:ln/>
        </p:spPr>
        <p:txBody>
          <a:bodyPr/>
          <a:p/>
        </p:txBody>
      </p:sp>
      <p:sp>
        <p:nvSpPr>
          <p:cNvPr id="11" name="Text 9"/>
          <p:cNvSpPr/>
          <p:nvPr/>
        </p:nvSpPr>
        <p:spPr>
          <a:xfrm>
            <a:off x="841248" y="21031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10"/>
          <p:cNvSpPr/>
          <p:nvPr/>
        </p:nvSpPr>
        <p:spPr>
          <a:xfrm>
            <a:off x="1508760" y="2084832"/>
            <a:ext cx="2468880" cy="5486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Clean a messy export</a:t>
            </a:r>
            <a:endParaRPr lang="en-US" sz="1500" dirty="0"/>
          </a:p>
        </p:txBody>
      </p:sp>
      <p:sp>
        <p:nvSpPr>
          <p:cNvPr id="13" name="Text 11"/>
          <p:cNvSpPr/>
          <p:nvPr/>
        </p:nvSpPr>
        <p:spPr>
          <a:xfrm>
            <a:off x="841248" y="2743200"/>
            <a:ext cx="3108960" cy="64008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Fix dates, text, blanks &amp; categories with one prompt</a:t>
            </a:r>
            <a:endParaRPr lang="en-US" sz="1250" dirty="0"/>
          </a:p>
        </p:txBody>
      </p:sp>
      <p:sp>
        <p:nvSpPr>
          <p:cNvPr id="14" name="Shape 12"/>
          <p:cNvSpPr/>
          <p:nvPr/>
        </p:nvSpPr>
        <p:spPr>
          <a:xfrm>
            <a:off x="4325112" y="1828800"/>
            <a:ext cx="3566160" cy="1691640"/>
          </a:xfrm>
          <a:prstGeom prst="roundRect">
            <a:avLst>
              <a:gd name="adj" fmla="val 5405"/>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15" name="Shape 13"/>
          <p:cNvSpPr/>
          <p:nvPr/>
        </p:nvSpPr>
        <p:spPr>
          <a:xfrm>
            <a:off x="4325112" y="1828800"/>
            <a:ext cx="91440" cy="1691640"/>
          </a:xfrm>
          <a:prstGeom prst="rect">
            <a:avLst/>
          </a:prstGeom>
          <a:solidFill>
            <a:srgbClr val="0D9488"/>
          </a:solidFill>
          <a:ln/>
        </p:spPr>
        <p:txBody>
          <a:bodyPr/>
          <a:p/>
        </p:txBody>
      </p:sp>
      <p:sp>
        <p:nvSpPr>
          <p:cNvPr id="16" name="Shape 14"/>
          <p:cNvSpPr/>
          <p:nvPr/>
        </p:nvSpPr>
        <p:spPr>
          <a:xfrm>
            <a:off x="4617720" y="2103120"/>
            <a:ext cx="502920" cy="502920"/>
          </a:xfrm>
          <a:prstGeom prst="ellipse">
            <a:avLst/>
          </a:prstGeom>
          <a:solidFill>
            <a:srgbClr val="0D9488"/>
          </a:solidFill>
          <a:ln/>
        </p:spPr>
        <p:txBody>
          <a:bodyPr/>
          <a:p/>
        </p:txBody>
      </p:sp>
      <p:sp>
        <p:nvSpPr>
          <p:cNvPr id="17" name="Text 15"/>
          <p:cNvSpPr/>
          <p:nvPr/>
        </p:nvSpPr>
        <p:spPr>
          <a:xfrm>
            <a:off x="4617720" y="21031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8" name="Text 16"/>
          <p:cNvSpPr/>
          <p:nvPr/>
        </p:nvSpPr>
        <p:spPr>
          <a:xfrm>
            <a:off x="5285232" y="2084832"/>
            <a:ext cx="2468880" cy="5486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Reconcile two systems</a:t>
            </a:r>
            <a:endParaRPr lang="en-US" sz="1500" dirty="0"/>
          </a:p>
        </p:txBody>
      </p:sp>
      <p:sp>
        <p:nvSpPr>
          <p:cNvPr id="19" name="Text 17"/>
          <p:cNvSpPr/>
          <p:nvPr/>
        </p:nvSpPr>
        <p:spPr>
          <a:xfrm>
            <a:off x="4617720" y="2743200"/>
            <a:ext cx="3108960" cy="64008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Match names that don't quite match</a:t>
            </a:r>
            <a:endParaRPr lang="en-US" sz="1250" dirty="0"/>
          </a:p>
        </p:txBody>
      </p:sp>
      <p:sp>
        <p:nvSpPr>
          <p:cNvPr id="20" name="Shape 18"/>
          <p:cNvSpPr/>
          <p:nvPr/>
        </p:nvSpPr>
        <p:spPr>
          <a:xfrm>
            <a:off x="8101584" y="1828800"/>
            <a:ext cx="3566160" cy="1691640"/>
          </a:xfrm>
          <a:prstGeom prst="roundRect">
            <a:avLst>
              <a:gd name="adj" fmla="val 5405"/>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21" name="Shape 19"/>
          <p:cNvSpPr/>
          <p:nvPr/>
        </p:nvSpPr>
        <p:spPr>
          <a:xfrm>
            <a:off x="8101584" y="1828800"/>
            <a:ext cx="91440" cy="1691640"/>
          </a:xfrm>
          <a:prstGeom prst="rect">
            <a:avLst/>
          </a:prstGeom>
          <a:solidFill>
            <a:srgbClr val="0D9488"/>
          </a:solidFill>
          <a:ln/>
        </p:spPr>
        <p:txBody>
          <a:bodyPr/>
          <a:p/>
        </p:txBody>
      </p:sp>
      <p:sp>
        <p:nvSpPr>
          <p:cNvPr id="22" name="Shape 20"/>
          <p:cNvSpPr/>
          <p:nvPr/>
        </p:nvSpPr>
        <p:spPr>
          <a:xfrm>
            <a:off x="8394192" y="2103120"/>
            <a:ext cx="502920" cy="502920"/>
          </a:xfrm>
          <a:prstGeom prst="ellipse">
            <a:avLst/>
          </a:prstGeom>
          <a:solidFill>
            <a:srgbClr val="0D9488"/>
          </a:solidFill>
          <a:ln/>
        </p:spPr>
        <p:txBody>
          <a:bodyPr/>
          <a:p/>
        </p:txBody>
      </p:sp>
      <p:sp>
        <p:nvSpPr>
          <p:cNvPr id="23" name="Text 21"/>
          <p:cNvSpPr/>
          <p:nvPr/>
        </p:nvSpPr>
        <p:spPr>
          <a:xfrm>
            <a:off x="8394192" y="21031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4" name="Text 22"/>
          <p:cNvSpPr/>
          <p:nvPr/>
        </p:nvSpPr>
        <p:spPr>
          <a:xfrm>
            <a:off x="9061704" y="2084832"/>
            <a:ext cx="2468880" cy="5486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Generate Excel formulas</a:t>
            </a:r>
            <a:endParaRPr lang="en-US" sz="1500" dirty="0"/>
          </a:p>
        </p:txBody>
      </p:sp>
      <p:sp>
        <p:nvSpPr>
          <p:cNvPr id="25" name="Text 23"/>
          <p:cNvSpPr/>
          <p:nvPr/>
        </p:nvSpPr>
        <p:spPr>
          <a:xfrm>
            <a:off x="8394192" y="2743200"/>
            <a:ext cx="3108960" cy="64008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Describe what you want, get the formula</a:t>
            </a:r>
            <a:endParaRPr lang="en-US" sz="1250" dirty="0"/>
          </a:p>
        </p:txBody>
      </p:sp>
      <p:sp>
        <p:nvSpPr>
          <p:cNvPr id="26" name="Shape 24"/>
          <p:cNvSpPr/>
          <p:nvPr/>
        </p:nvSpPr>
        <p:spPr>
          <a:xfrm>
            <a:off x="548640" y="3703320"/>
            <a:ext cx="3566160" cy="1691640"/>
          </a:xfrm>
          <a:prstGeom prst="roundRect">
            <a:avLst>
              <a:gd name="adj" fmla="val 5405"/>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27" name="Shape 25"/>
          <p:cNvSpPr/>
          <p:nvPr/>
        </p:nvSpPr>
        <p:spPr>
          <a:xfrm>
            <a:off x="548640" y="3703320"/>
            <a:ext cx="91440" cy="1691640"/>
          </a:xfrm>
          <a:prstGeom prst="rect">
            <a:avLst/>
          </a:prstGeom>
          <a:solidFill>
            <a:srgbClr val="0D9488"/>
          </a:solidFill>
          <a:ln/>
        </p:spPr>
        <p:txBody>
          <a:bodyPr/>
          <a:p/>
        </p:txBody>
      </p:sp>
      <p:sp>
        <p:nvSpPr>
          <p:cNvPr id="28" name="Shape 26"/>
          <p:cNvSpPr/>
          <p:nvPr/>
        </p:nvSpPr>
        <p:spPr>
          <a:xfrm>
            <a:off x="841248" y="3977640"/>
            <a:ext cx="502920" cy="502920"/>
          </a:xfrm>
          <a:prstGeom prst="ellipse">
            <a:avLst/>
          </a:prstGeom>
          <a:solidFill>
            <a:srgbClr val="0D9488"/>
          </a:solidFill>
          <a:ln/>
        </p:spPr>
        <p:txBody>
          <a:bodyPr/>
          <a:p/>
        </p:txBody>
      </p:sp>
      <p:sp>
        <p:nvSpPr>
          <p:cNvPr id="29" name="Text 27"/>
          <p:cNvSpPr/>
          <p:nvPr/>
        </p:nvSpPr>
        <p:spPr>
          <a:xfrm>
            <a:off x="841248" y="39776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0" name="Text 28"/>
          <p:cNvSpPr/>
          <p:nvPr/>
        </p:nvSpPr>
        <p:spPr>
          <a:xfrm>
            <a:off x="1508760" y="3959352"/>
            <a:ext cx="2468880" cy="5486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Draft the executive summary</a:t>
            </a:r>
            <a:endParaRPr lang="en-US" sz="1500" dirty="0"/>
          </a:p>
        </p:txBody>
      </p:sp>
      <p:sp>
        <p:nvSpPr>
          <p:cNvPr id="31" name="Text 29"/>
          <p:cNvSpPr/>
          <p:nvPr/>
        </p:nvSpPr>
        <p:spPr>
          <a:xfrm>
            <a:off x="841248" y="4617720"/>
            <a:ext cx="3108960" cy="64008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Turn your numbers into a narrative</a:t>
            </a:r>
            <a:endParaRPr lang="en-US" sz="1250" dirty="0"/>
          </a:p>
        </p:txBody>
      </p:sp>
      <p:sp>
        <p:nvSpPr>
          <p:cNvPr id="32" name="Shape 30"/>
          <p:cNvSpPr/>
          <p:nvPr/>
        </p:nvSpPr>
        <p:spPr>
          <a:xfrm>
            <a:off x="4325112" y="3703320"/>
            <a:ext cx="3566160" cy="1691640"/>
          </a:xfrm>
          <a:prstGeom prst="roundRect">
            <a:avLst>
              <a:gd name="adj" fmla="val 5405"/>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33" name="Shape 31"/>
          <p:cNvSpPr/>
          <p:nvPr/>
        </p:nvSpPr>
        <p:spPr>
          <a:xfrm>
            <a:off x="4325112" y="3703320"/>
            <a:ext cx="91440" cy="1691640"/>
          </a:xfrm>
          <a:prstGeom prst="rect">
            <a:avLst/>
          </a:prstGeom>
          <a:solidFill>
            <a:srgbClr val="F59E0B"/>
          </a:solidFill>
          <a:ln/>
        </p:spPr>
        <p:txBody>
          <a:bodyPr/>
          <a:p/>
        </p:txBody>
      </p:sp>
      <p:sp>
        <p:nvSpPr>
          <p:cNvPr id="34" name="Shape 32"/>
          <p:cNvSpPr/>
          <p:nvPr/>
        </p:nvSpPr>
        <p:spPr>
          <a:xfrm>
            <a:off x="4617720" y="3977640"/>
            <a:ext cx="502920" cy="502920"/>
          </a:xfrm>
          <a:prstGeom prst="ellipse">
            <a:avLst/>
          </a:prstGeom>
          <a:solidFill>
            <a:srgbClr val="F59E0B"/>
          </a:solidFill>
          <a:ln/>
        </p:spPr>
        <p:txBody>
          <a:bodyPr/>
          <a:p/>
        </p:txBody>
      </p:sp>
      <p:sp>
        <p:nvSpPr>
          <p:cNvPr id="35" name="Text 33"/>
          <p:cNvSpPr/>
          <p:nvPr/>
        </p:nvSpPr>
        <p:spPr>
          <a:xfrm>
            <a:off x="4617720" y="39776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6" name="Text 34"/>
          <p:cNvSpPr/>
          <p:nvPr/>
        </p:nvSpPr>
        <p:spPr>
          <a:xfrm>
            <a:off x="5285232" y="3959352"/>
            <a:ext cx="2468880" cy="5486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Do it safely</a:t>
            </a:r>
            <a:endParaRPr lang="en-US" sz="1500" dirty="0"/>
          </a:p>
        </p:txBody>
      </p:sp>
      <p:sp>
        <p:nvSpPr>
          <p:cNvPr id="37" name="Text 35"/>
          <p:cNvSpPr/>
          <p:nvPr/>
        </p:nvSpPr>
        <p:spPr>
          <a:xfrm>
            <a:off x="4617720" y="4617720"/>
            <a:ext cx="3108960" cy="64008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Protect sensitive data + verify every output</a:t>
            </a:r>
            <a:endParaRPr lang="en-US" sz="1250" dirty="0"/>
          </a:p>
        </p:txBody>
      </p:sp>
      <p:sp>
        <p:nvSpPr>
          <p:cNvPr id="38" name="Shape 36"/>
          <p:cNvSpPr/>
          <p:nvPr/>
        </p:nvSpPr>
        <p:spPr>
          <a:xfrm>
            <a:off x="8101584" y="3703320"/>
            <a:ext cx="3566160" cy="1691640"/>
          </a:xfrm>
          <a:prstGeom prst="roundRect">
            <a:avLst>
              <a:gd name="adj" fmla="val 5405"/>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39" name="Shape 37"/>
          <p:cNvSpPr/>
          <p:nvPr/>
        </p:nvSpPr>
        <p:spPr>
          <a:xfrm>
            <a:off x="8101584" y="3703320"/>
            <a:ext cx="91440" cy="1691640"/>
          </a:xfrm>
          <a:prstGeom prst="rect">
            <a:avLst/>
          </a:prstGeom>
          <a:solidFill>
            <a:srgbClr val="F59E0B"/>
          </a:solidFill>
          <a:ln/>
        </p:spPr>
        <p:txBody>
          <a:bodyPr/>
          <a:p/>
        </p:txBody>
      </p:sp>
      <p:sp>
        <p:nvSpPr>
          <p:cNvPr id="40" name="Shape 38"/>
          <p:cNvSpPr/>
          <p:nvPr/>
        </p:nvSpPr>
        <p:spPr>
          <a:xfrm>
            <a:off x="8394192" y="3977640"/>
            <a:ext cx="502920" cy="502920"/>
          </a:xfrm>
          <a:prstGeom prst="ellipse">
            <a:avLst/>
          </a:prstGeom>
          <a:solidFill>
            <a:srgbClr val="F59E0B"/>
          </a:solidFill>
          <a:ln/>
        </p:spPr>
        <p:txBody>
          <a:bodyPr/>
          <a:p/>
        </p:txBody>
      </p:sp>
      <p:sp>
        <p:nvSpPr>
          <p:cNvPr id="41" name="Text 39"/>
          <p:cNvSpPr/>
          <p:nvPr/>
        </p:nvSpPr>
        <p:spPr>
          <a:xfrm>
            <a:off x="8394192" y="39776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42" name="Text 40"/>
          <p:cNvSpPr/>
          <p:nvPr/>
        </p:nvSpPr>
        <p:spPr>
          <a:xfrm>
            <a:off x="9061704" y="3959352"/>
            <a:ext cx="2468880" cy="5486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Keep the gains</a:t>
            </a:r>
            <a:endParaRPr lang="en-US" sz="1500" dirty="0"/>
          </a:p>
        </p:txBody>
      </p:sp>
      <p:sp>
        <p:nvSpPr>
          <p:cNvPr id="43" name="Text 41"/>
          <p:cNvSpPr/>
          <p:nvPr/>
        </p:nvSpPr>
        <p:spPr>
          <a:xfrm>
            <a:off x="8394192" y="4617720"/>
            <a:ext cx="3108960" cy="64008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A workflow that compounds across reports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D9488"/>
          </a:solidFill>
          <a:ln/>
        </p:spPr>
        <p:txBody>
          <a:bodyPr/>
          <a:p/>
        </p:txBody>
      </p:sp>
      <p:sp>
        <p:nvSpPr>
          <p:cNvPr id="3" name="Text 1"/>
          <p:cNvSpPr/>
          <p:nvPr/>
        </p:nvSpPr>
        <p:spPr>
          <a:xfrm>
            <a:off x="822960" y="1554480"/>
            <a:ext cx="2743200" cy="1463040"/>
          </a:xfrm>
          <a:prstGeom prst="rect">
            <a:avLst/>
          </a:prstGeom>
          <a:noFill/>
          <a:ln/>
        </p:spPr>
        <p:txBody>
          <a:bodyPr wrap="square" lIns="0" tIns="0" rIns="0" bIns="0" rtlCol="0" anchor="ctr"/>
          <a:lstStyle/>
          <a:p>
            <a:pPr indent="0" marL="0">
              <a:buNone/>
            </a:pPr>
            <a:r>
              <a:rPr lang="en-US" sz="9600" b="1" dirty="0">
                <a:solidFill>
                  <a:srgbClr val="0D9488"/>
                </a:solidFill>
                <a:latin typeface="Georgia" pitchFamily="34" charset="0"/>
                <a:ea typeface="Georgia" pitchFamily="34" charset="-122"/>
                <a:cs typeface="Georgia" pitchFamily="34" charset="-120"/>
              </a:rPr>
              <a:t>01</a:t>
            </a:r>
            <a:endParaRPr lang="en-US" sz="9600" dirty="0"/>
          </a:p>
        </p:txBody>
      </p:sp>
      <p:sp>
        <p:nvSpPr>
          <p:cNvPr id="4" name="Text 2"/>
          <p:cNvSpPr/>
          <p:nvPr/>
        </p:nvSpPr>
        <p:spPr>
          <a:xfrm>
            <a:off x="868680" y="2971800"/>
            <a:ext cx="10424160" cy="10972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Map the workflow</a:t>
            </a:r>
            <a:endParaRPr lang="en-US" sz="3800" dirty="0"/>
          </a:p>
        </p:txBody>
      </p:sp>
      <p:sp>
        <p:nvSpPr>
          <p:cNvPr id="5" name="Text 3"/>
          <p:cNvSpPr/>
          <p:nvPr/>
        </p:nvSpPr>
        <p:spPr>
          <a:xfrm>
            <a:off x="914400" y="4114800"/>
            <a:ext cx="10058400" cy="1097280"/>
          </a:xfrm>
          <a:prstGeom prst="rect">
            <a:avLst/>
          </a:prstGeom>
          <a:noFill/>
          <a:ln/>
        </p:spPr>
        <p:txBody>
          <a:bodyPr wrap="square" lIns="0" tIns="0" rIns="0" bIns="0" rtlCol="0" anchor="ctr"/>
          <a:lstStyle/>
          <a:p>
            <a:pPr indent="0" marL="0">
              <a:buNone/>
            </a:pPr>
            <a:r>
              <a:rPr lang="en-US" sz="1700" dirty="0">
                <a:solidFill>
                  <a:srgbClr val="5EEAD4"/>
                </a:solidFill>
                <a:latin typeface="Calibri" pitchFamily="34" charset="0"/>
                <a:ea typeface="Calibri" pitchFamily="34" charset="-122"/>
                <a:cs typeface="Calibri" pitchFamily="34" charset="-120"/>
              </a:rPr>
              <a:t>Where AI helps most - and where it must not touch</a:t>
            </a:r>
            <a:endParaRPr lang="en-US" sz="1700" dirty="0"/>
          </a:p>
        </p:txBody>
      </p:sp>
      <p:sp>
        <p:nvSpPr>
          <p:cNvPr id="6" name="Shape 4"/>
          <p:cNvSpPr/>
          <p:nvPr/>
        </p:nvSpPr>
        <p:spPr>
          <a:xfrm>
            <a:off x="9921240" y="384048"/>
            <a:ext cx="1783080" cy="457200"/>
          </a:xfrm>
          <a:prstGeom prst="roundRect">
            <a:avLst>
              <a:gd name="adj" fmla="val 50000"/>
            </a:avLst>
          </a:prstGeom>
          <a:solidFill>
            <a:srgbClr val="0D9488"/>
          </a:solidFill>
          <a:ln/>
        </p:spPr>
        <p:txBody>
          <a:bodyPr/>
          <a:p/>
        </p:txBody>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6-12 min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417320"/>
          </a:xfrm>
          <a:prstGeom prst="rect">
            <a:avLst/>
          </a:prstGeom>
          <a:solidFill>
            <a:srgbClr val="FFFFFF"/>
          </a:solidFill>
          <a:ln/>
        </p:spPr>
        <p:txBody>
          <a:bodyPr/>
          <a:p/>
        </p:txBody>
      </p:sp>
      <p:sp>
        <p:nvSpPr>
          <p:cNvPr id="3" name="Shape 1"/>
          <p:cNvSpPr/>
          <p:nvPr/>
        </p:nvSpPr>
        <p:spPr>
          <a:xfrm>
            <a:off x="0" y="1417320"/>
            <a:ext cx="12161520" cy="45720"/>
          </a:xfrm>
          <a:prstGeom prst="rect">
            <a:avLst/>
          </a:prstGeom>
          <a:solidFill>
            <a:srgbClr val="0D9488"/>
          </a:solidFill>
          <a:ln/>
        </p:spPr>
        <p:txBody>
          <a:bodyPr/>
          <a:p/>
        </p:txBody>
      </p:sp>
      <p:sp>
        <p:nvSpPr>
          <p:cNvPr id="4" name="Text 2"/>
          <p:cNvSpPr/>
          <p:nvPr/>
        </p:nvSpPr>
        <p:spPr>
          <a:xfrm>
            <a:off x="548640" y="365760"/>
            <a:ext cx="86868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THE REPORTING WORKFLOW</a:t>
            </a:r>
            <a:endParaRPr lang="en-US" sz="1200" dirty="0"/>
          </a:p>
        </p:txBody>
      </p:sp>
      <p:sp>
        <p:nvSpPr>
          <p:cNvPr id="5" name="Text 3"/>
          <p:cNvSpPr/>
          <p:nvPr/>
        </p:nvSpPr>
        <p:spPr>
          <a:xfrm>
            <a:off x="548640" y="658368"/>
            <a:ext cx="9326880" cy="73152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Six stages - three colors tell you where AI fits</a:t>
            </a:r>
            <a:endParaRPr lang="en-US" sz="2700" dirty="0"/>
          </a:p>
        </p:txBody>
      </p:sp>
      <p:sp>
        <p:nvSpPr>
          <p:cNvPr id="6" name="Shape 4"/>
          <p:cNvSpPr/>
          <p:nvPr/>
        </p:nvSpPr>
        <p:spPr>
          <a:xfrm>
            <a:off x="9921240" y="384048"/>
            <a:ext cx="1783080" cy="457200"/>
          </a:xfrm>
          <a:prstGeom prst="roundRect">
            <a:avLst>
              <a:gd name="adj" fmla="val 50000"/>
            </a:avLst>
          </a:prstGeom>
          <a:solidFill>
            <a:srgbClr val="E6F4F2"/>
          </a:solidFill>
          <a:ln/>
        </p:spPr>
        <p:txBody>
          <a:bodyPr/>
          <a:p/>
        </p:txBody>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6-10 min</a:t>
            </a:r>
            <a:endParaRPr lang="en-US" sz="1200" dirty="0"/>
          </a:p>
        </p:txBody>
      </p:sp>
      <p:sp>
        <p:nvSpPr>
          <p:cNvPr id="8" name="Shape 6"/>
          <p:cNvSpPr/>
          <p:nvPr/>
        </p:nvSpPr>
        <p:spPr>
          <a:xfrm>
            <a:off x="548640" y="2148840"/>
            <a:ext cx="1783080" cy="2286000"/>
          </a:xfrm>
          <a:prstGeom prst="roundRect">
            <a:avLst>
              <a:gd name="adj" fmla="val 5128"/>
            </a:avLst>
          </a:prstGeom>
          <a:solidFill>
            <a:srgbClr val="EEF2F6"/>
          </a:solidFill>
          <a:ln w="19050">
            <a:solidFill>
              <a:srgbClr val="CBD5E1"/>
            </a:solidFill>
            <a:prstDash val="solid"/>
          </a:ln>
          <a:effectLst>
            <a:outerShdw sx="100000" sy="100000" kx="0" ky="0" algn="bl" rotWithShape="0" blurRad="88900" dist="38100" dir="8100000">
              <a:srgbClr val="000000">
                <a:alpha val="12000"/>
              </a:srgbClr>
            </a:outerShdw>
          </a:effectLst>
        </p:spPr>
        <p:txBody>
          <a:bodyPr/>
          <a:p/>
        </p:txBody>
      </p:sp>
      <p:sp>
        <p:nvSpPr>
          <p:cNvPr id="9" name="Text 7"/>
          <p:cNvSpPr/>
          <p:nvPr/>
        </p:nvSpPr>
        <p:spPr>
          <a:xfrm>
            <a:off x="548640" y="2331720"/>
            <a:ext cx="1783080" cy="457200"/>
          </a:xfrm>
          <a:prstGeom prst="rect">
            <a:avLst/>
          </a:prstGeom>
          <a:noFill/>
          <a:ln/>
        </p:spPr>
        <p:txBody>
          <a:bodyPr wrap="square" lIns="0" tIns="0" rIns="0" bIns="0" rtlCol="0" anchor="ctr"/>
          <a:lstStyle/>
          <a:p>
            <a:pPr algn="ctr" indent="0" marL="0">
              <a:buNone/>
            </a:pPr>
            <a:r>
              <a:rPr lang="en-US" sz="2200" b="1" dirty="0">
                <a:solidFill>
                  <a:srgbClr val="64748B"/>
                </a:solidFill>
                <a:latin typeface="Georgia" pitchFamily="34" charset="0"/>
                <a:ea typeface="Georgia" pitchFamily="34" charset="-122"/>
                <a:cs typeface="Georgia" pitchFamily="34" charset="-120"/>
              </a:rPr>
              <a:t>1</a:t>
            </a:r>
            <a:endParaRPr lang="en-US" sz="2200" dirty="0"/>
          </a:p>
        </p:txBody>
      </p:sp>
      <p:sp>
        <p:nvSpPr>
          <p:cNvPr id="10" name="Text 8"/>
          <p:cNvSpPr/>
          <p:nvPr/>
        </p:nvSpPr>
        <p:spPr>
          <a:xfrm>
            <a:off x="548640" y="2834640"/>
            <a:ext cx="1783080" cy="457200"/>
          </a:xfrm>
          <a:prstGeom prst="rect">
            <a:avLst/>
          </a:prstGeom>
          <a:noFill/>
          <a:ln/>
        </p:spPr>
        <p:txBody>
          <a:bodyPr wrap="square" lIns="0" tIns="0" rIns="0" bIns="0"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Export</a:t>
            </a:r>
            <a:endParaRPr lang="en-US" sz="1600" dirty="0"/>
          </a:p>
        </p:txBody>
      </p:sp>
      <p:sp>
        <p:nvSpPr>
          <p:cNvPr id="11" name="Text 9"/>
          <p:cNvSpPr/>
          <p:nvPr/>
        </p:nvSpPr>
        <p:spPr>
          <a:xfrm>
            <a:off x="640080" y="3246120"/>
            <a:ext cx="1600200" cy="64008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Pull raw data</a:t>
            </a:r>
            <a:endParaRPr lang="en-US" sz="1150" dirty="0"/>
          </a:p>
        </p:txBody>
      </p:sp>
      <p:sp>
        <p:nvSpPr>
          <p:cNvPr id="12" name="Text 10"/>
          <p:cNvSpPr/>
          <p:nvPr/>
        </p:nvSpPr>
        <p:spPr>
          <a:xfrm>
            <a:off x="548640" y="4023360"/>
            <a:ext cx="1783080" cy="320040"/>
          </a:xfrm>
          <a:prstGeom prst="rect">
            <a:avLst/>
          </a:prstGeom>
          <a:noFill/>
          <a:ln/>
        </p:spPr>
        <p:txBody>
          <a:bodyPr wrap="square" lIns="0" tIns="0" rIns="0" bIns="0" rtlCol="0" anchor="ctr"/>
          <a:lstStyle/>
          <a:p>
            <a:pPr algn="ctr" indent="0" marL="0">
              <a:buNone/>
            </a:pPr>
            <a:r>
              <a:rPr lang="en-US" sz="950" b="1" spc="100" kern="0" dirty="0">
                <a:solidFill>
                  <a:srgbClr val="1E293B"/>
                </a:solidFill>
                <a:latin typeface="Calibri" pitchFamily="34" charset="0"/>
                <a:ea typeface="Calibri" pitchFamily="34" charset="-122"/>
                <a:cs typeface="Calibri" pitchFamily="34" charset="-120"/>
              </a:rPr>
              <a:t>YOU DECIDE</a:t>
            </a:r>
            <a:endParaRPr lang="en-US" sz="950" dirty="0"/>
          </a:p>
        </p:txBody>
      </p:sp>
      <p:sp>
        <p:nvSpPr>
          <p:cNvPr id="13" name="Text 11"/>
          <p:cNvSpPr/>
          <p:nvPr/>
        </p:nvSpPr>
        <p:spPr>
          <a:xfrm>
            <a:off x="2313432" y="2743200"/>
            <a:ext cx="256032" cy="914400"/>
          </a:xfrm>
          <a:prstGeom prst="rect">
            <a:avLst/>
          </a:prstGeom>
          <a:noFill/>
          <a:ln/>
        </p:spPr>
        <p:txBody>
          <a:bodyPr wrap="square" lIns="0" tIns="0" rIns="0" bIns="0"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&gt;</a:t>
            </a:r>
            <a:endParaRPr lang="en-US" sz="2200" dirty="0"/>
          </a:p>
        </p:txBody>
      </p:sp>
      <p:sp>
        <p:nvSpPr>
          <p:cNvPr id="14" name="Shape 12"/>
          <p:cNvSpPr/>
          <p:nvPr/>
        </p:nvSpPr>
        <p:spPr>
          <a:xfrm>
            <a:off x="2450592" y="2148840"/>
            <a:ext cx="1783080" cy="2286000"/>
          </a:xfrm>
          <a:prstGeom prst="roundRect">
            <a:avLst>
              <a:gd name="adj" fmla="val 5128"/>
            </a:avLst>
          </a:prstGeom>
          <a:solidFill>
            <a:srgbClr val="E7F4EC"/>
          </a:solidFill>
          <a:ln w="19050">
            <a:solidFill>
              <a:srgbClr val="0D9488"/>
            </a:solidFill>
            <a:prstDash val="solid"/>
          </a:ln>
          <a:effectLst>
            <a:outerShdw sx="100000" sy="100000" kx="0" ky="0" algn="bl" rotWithShape="0" blurRad="88900" dist="38100" dir="8100000">
              <a:srgbClr val="000000">
                <a:alpha val="12000"/>
              </a:srgbClr>
            </a:outerShdw>
          </a:effectLst>
        </p:spPr>
        <p:txBody>
          <a:bodyPr/>
          <a:p/>
        </p:txBody>
      </p:sp>
      <p:sp>
        <p:nvSpPr>
          <p:cNvPr id="15" name="Text 13"/>
          <p:cNvSpPr/>
          <p:nvPr/>
        </p:nvSpPr>
        <p:spPr>
          <a:xfrm>
            <a:off x="2450592" y="2331720"/>
            <a:ext cx="1783080" cy="457200"/>
          </a:xfrm>
          <a:prstGeom prst="rect">
            <a:avLst/>
          </a:prstGeom>
          <a:noFill/>
          <a:ln/>
        </p:spPr>
        <p:txBody>
          <a:bodyPr wrap="square" lIns="0" tIns="0" rIns="0" bIns="0" rtlCol="0" anchor="ctr"/>
          <a:lstStyle/>
          <a:p>
            <a:pPr algn="ctr" indent="0" marL="0">
              <a:buNone/>
            </a:pPr>
            <a:r>
              <a:rPr lang="en-US" sz="2200" b="1" dirty="0">
                <a:solidFill>
                  <a:srgbClr val="0D9488"/>
                </a:solidFill>
                <a:latin typeface="Georgia" pitchFamily="34" charset="0"/>
                <a:ea typeface="Georgia" pitchFamily="34" charset="-122"/>
                <a:cs typeface="Georgia" pitchFamily="34" charset="-120"/>
              </a:rPr>
              <a:t>2</a:t>
            </a:r>
            <a:endParaRPr lang="en-US" sz="2200" dirty="0"/>
          </a:p>
        </p:txBody>
      </p:sp>
      <p:sp>
        <p:nvSpPr>
          <p:cNvPr id="16" name="Text 14"/>
          <p:cNvSpPr/>
          <p:nvPr/>
        </p:nvSpPr>
        <p:spPr>
          <a:xfrm>
            <a:off x="2450592" y="2834640"/>
            <a:ext cx="1783080" cy="457200"/>
          </a:xfrm>
          <a:prstGeom prst="rect">
            <a:avLst/>
          </a:prstGeom>
          <a:noFill/>
          <a:ln/>
        </p:spPr>
        <p:txBody>
          <a:bodyPr wrap="square" lIns="0" tIns="0" rIns="0" bIns="0"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Clean</a:t>
            </a:r>
            <a:endParaRPr lang="en-US" sz="1600" dirty="0"/>
          </a:p>
        </p:txBody>
      </p:sp>
      <p:sp>
        <p:nvSpPr>
          <p:cNvPr id="17" name="Text 15"/>
          <p:cNvSpPr/>
          <p:nvPr/>
        </p:nvSpPr>
        <p:spPr>
          <a:xfrm>
            <a:off x="2542032" y="3246120"/>
            <a:ext cx="1600200" cy="64008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Fix the mess</a:t>
            </a:r>
            <a:endParaRPr lang="en-US" sz="1150" dirty="0"/>
          </a:p>
        </p:txBody>
      </p:sp>
      <p:sp>
        <p:nvSpPr>
          <p:cNvPr id="18" name="Text 16"/>
          <p:cNvSpPr/>
          <p:nvPr/>
        </p:nvSpPr>
        <p:spPr>
          <a:xfrm>
            <a:off x="2450592" y="4023360"/>
            <a:ext cx="1783080" cy="320040"/>
          </a:xfrm>
          <a:prstGeom prst="rect">
            <a:avLst/>
          </a:prstGeom>
          <a:noFill/>
          <a:ln/>
        </p:spPr>
        <p:txBody>
          <a:bodyPr wrap="square" lIns="0" tIns="0" rIns="0" bIns="0" rtlCol="0" anchor="ctr"/>
          <a:lstStyle/>
          <a:p>
            <a:pPr algn="ctr" indent="0" marL="0">
              <a:buNone/>
            </a:pPr>
            <a:r>
              <a:rPr lang="en-US" sz="950" b="1" spc="100" kern="0" dirty="0">
                <a:solidFill>
                  <a:srgbClr val="0D9488"/>
                </a:solidFill>
                <a:latin typeface="Calibri" pitchFamily="34" charset="0"/>
                <a:ea typeface="Calibri" pitchFamily="34" charset="-122"/>
                <a:cs typeface="Calibri" pitchFamily="34" charset="-120"/>
              </a:rPr>
              <a:t>AI DOES THE WORK</a:t>
            </a:r>
            <a:endParaRPr lang="en-US" sz="950" dirty="0"/>
          </a:p>
        </p:txBody>
      </p:sp>
      <p:sp>
        <p:nvSpPr>
          <p:cNvPr id="19" name="Text 17"/>
          <p:cNvSpPr/>
          <p:nvPr/>
        </p:nvSpPr>
        <p:spPr>
          <a:xfrm>
            <a:off x="4215384" y="2743200"/>
            <a:ext cx="256032" cy="914400"/>
          </a:xfrm>
          <a:prstGeom prst="rect">
            <a:avLst/>
          </a:prstGeom>
          <a:noFill/>
          <a:ln/>
        </p:spPr>
        <p:txBody>
          <a:bodyPr wrap="square" lIns="0" tIns="0" rIns="0" bIns="0"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&gt;</a:t>
            </a:r>
            <a:endParaRPr lang="en-US" sz="2200" dirty="0"/>
          </a:p>
        </p:txBody>
      </p:sp>
      <p:sp>
        <p:nvSpPr>
          <p:cNvPr id="20" name="Shape 18"/>
          <p:cNvSpPr/>
          <p:nvPr/>
        </p:nvSpPr>
        <p:spPr>
          <a:xfrm>
            <a:off x="4352544" y="2148840"/>
            <a:ext cx="1783080" cy="2286000"/>
          </a:xfrm>
          <a:prstGeom prst="roundRect">
            <a:avLst>
              <a:gd name="adj" fmla="val 5128"/>
            </a:avLst>
          </a:prstGeom>
          <a:solidFill>
            <a:srgbClr val="E7F4EC"/>
          </a:solidFill>
          <a:ln w="19050">
            <a:solidFill>
              <a:srgbClr val="0D9488"/>
            </a:solidFill>
            <a:prstDash val="solid"/>
          </a:ln>
          <a:effectLst>
            <a:outerShdw sx="100000" sy="100000" kx="0" ky="0" algn="bl" rotWithShape="0" blurRad="88900" dist="38100" dir="8100000">
              <a:srgbClr val="000000">
                <a:alpha val="12000"/>
              </a:srgbClr>
            </a:outerShdw>
          </a:effectLst>
        </p:spPr>
        <p:txBody>
          <a:bodyPr/>
          <a:p/>
        </p:txBody>
      </p:sp>
      <p:sp>
        <p:nvSpPr>
          <p:cNvPr id="21" name="Text 19"/>
          <p:cNvSpPr/>
          <p:nvPr/>
        </p:nvSpPr>
        <p:spPr>
          <a:xfrm>
            <a:off x="4352544" y="2331720"/>
            <a:ext cx="1783080" cy="457200"/>
          </a:xfrm>
          <a:prstGeom prst="rect">
            <a:avLst/>
          </a:prstGeom>
          <a:noFill/>
          <a:ln/>
        </p:spPr>
        <p:txBody>
          <a:bodyPr wrap="square" lIns="0" tIns="0" rIns="0" bIns="0" rtlCol="0" anchor="ctr"/>
          <a:lstStyle/>
          <a:p>
            <a:pPr algn="ctr" indent="0" marL="0">
              <a:buNone/>
            </a:pPr>
            <a:r>
              <a:rPr lang="en-US" sz="2200" b="1" dirty="0">
                <a:solidFill>
                  <a:srgbClr val="0D9488"/>
                </a:solidFill>
                <a:latin typeface="Georgia" pitchFamily="34" charset="0"/>
                <a:ea typeface="Georgia" pitchFamily="34" charset="-122"/>
                <a:cs typeface="Georgia" pitchFamily="34" charset="-120"/>
              </a:rPr>
              <a:t>3</a:t>
            </a:r>
            <a:endParaRPr lang="en-US" sz="2200" dirty="0"/>
          </a:p>
        </p:txBody>
      </p:sp>
      <p:sp>
        <p:nvSpPr>
          <p:cNvPr id="22" name="Text 20"/>
          <p:cNvSpPr/>
          <p:nvPr/>
        </p:nvSpPr>
        <p:spPr>
          <a:xfrm>
            <a:off x="4352544" y="2834640"/>
            <a:ext cx="1783080" cy="457200"/>
          </a:xfrm>
          <a:prstGeom prst="rect">
            <a:avLst/>
          </a:prstGeom>
          <a:noFill/>
          <a:ln/>
        </p:spPr>
        <p:txBody>
          <a:bodyPr wrap="square" lIns="0" tIns="0" rIns="0" bIns="0"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Reconcile</a:t>
            </a:r>
            <a:endParaRPr lang="en-US" sz="1600" dirty="0"/>
          </a:p>
        </p:txBody>
      </p:sp>
      <p:sp>
        <p:nvSpPr>
          <p:cNvPr id="23" name="Text 21"/>
          <p:cNvSpPr/>
          <p:nvPr/>
        </p:nvSpPr>
        <p:spPr>
          <a:xfrm>
            <a:off x="4443984" y="3246120"/>
            <a:ext cx="1600200" cy="64008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Match sources</a:t>
            </a:r>
            <a:endParaRPr lang="en-US" sz="1150" dirty="0"/>
          </a:p>
        </p:txBody>
      </p:sp>
      <p:sp>
        <p:nvSpPr>
          <p:cNvPr id="24" name="Text 22"/>
          <p:cNvSpPr/>
          <p:nvPr/>
        </p:nvSpPr>
        <p:spPr>
          <a:xfrm>
            <a:off x="4352544" y="4023360"/>
            <a:ext cx="1783080" cy="320040"/>
          </a:xfrm>
          <a:prstGeom prst="rect">
            <a:avLst/>
          </a:prstGeom>
          <a:noFill/>
          <a:ln/>
        </p:spPr>
        <p:txBody>
          <a:bodyPr wrap="square" lIns="0" tIns="0" rIns="0" bIns="0" rtlCol="0" anchor="ctr"/>
          <a:lstStyle/>
          <a:p>
            <a:pPr algn="ctr" indent="0" marL="0">
              <a:buNone/>
            </a:pPr>
            <a:r>
              <a:rPr lang="en-US" sz="950" b="1" spc="100" kern="0" dirty="0">
                <a:solidFill>
                  <a:srgbClr val="0D9488"/>
                </a:solidFill>
                <a:latin typeface="Calibri" pitchFamily="34" charset="0"/>
                <a:ea typeface="Calibri" pitchFamily="34" charset="-122"/>
                <a:cs typeface="Calibri" pitchFamily="34" charset="-120"/>
              </a:rPr>
              <a:t>AI DOES THE WORK</a:t>
            </a:r>
            <a:endParaRPr lang="en-US" sz="950" dirty="0"/>
          </a:p>
        </p:txBody>
      </p:sp>
      <p:sp>
        <p:nvSpPr>
          <p:cNvPr id="25" name="Text 23"/>
          <p:cNvSpPr/>
          <p:nvPr/>
        </p:nvSpPr>
        <p:spPr>
          <a:xfrm>
            <a:off x="6117336" y="2743200"/>
            <a:ext cx="256032" cy="914400"/>
          </a:xfrm>
          <a:prstGeom prst="rect">
            <a:avLst/>
          </a:prstGeom>
          <a:noFill/>
          <a:ln/>
        </p:spPr>
        <p:txBody>
          <a:bodyPr wrap="square" lIns="0" tIns="0" rIns="0" bIns="0"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&gt;</a:t>
            </a:r>
            <a:endParaRPr lang="en-US" sz="2200" dirty="0"/>
          </a:p>
        </p:txBody>
      </p:sp>
      <p:sp>
        <p:nvSpPr>
          <p:cNvPr id="26" name="Shape 24"/>
          <p:cNvSpPr/>
          <p:nvPr/>
        </p:nvSpPr>
        <p:spPr>
          <a:xfrm>
            <a:off x="6254496" y="2148840"/>
            <a:ext cx="1783080" cy="2286000"/>
          </a:xfrm>
          <a:prstGeom prst="roundRect">
            <a:avLst>
              <a:gd name="adj" fmla="val 5128"/>
            </a:avLst>
          </a:prstGeom>
          <a:solidFill>
            <a:srgbClr val="EEF2F6"/>
          </a:solidFill>
          <a:ln w="19050">
            <a:solidFill>
              <a:srgbClr val="CBD5E1"/>
            </a:solidFill>
            <a:prstDash val="solid"/>
          </a:ln>
          <a:effectLst>
            <a:outerShdw sx="100000" sy="100000" kx="0" ky="0" algn="bl" rotWithShape="0" blurRad="88900" dist="38100" dir="8100000">
              <a:srgbClr val="000000">
                <a:alpha val="12000"/>
              </a:srgbClr>
            </a:outerShdw>
          </a:effectLst>
        </p:spPr>
        <p:txBody>
          <a:bodyPr/>
          <a:p/>
        </p:txBody>
      </p:sp>
      <p:sp>
        <p:nvSpPr>
          <p:cNvPr id="27" name="Text 25"/>
          <p:cNvSpPr/>
          <p:nvPr/>
        </p:nvSpPr>
        <p:spPr>
          <a:xfrm>
            <a:off x="6254496" y="2331720"/>
            <a:ext cx="1783080" cy="457200"/>
          </a:xfrm>
          <a:prstGeom prst="rect">
            <a:avLst/>
          </a:prstGeom>
          <a:noFill/>
          <a:ln/>
        </p:spPr>
        <p:txBody>
          <a:bodyPr wrap="square" lIns="0" tIns="0" rIns="0" bIns="0" rtlCol="0" anchor="ctr"/>
          <a:lstStyle/>
          <a:p>
            <a:pPr algn="ctr" indent="0" marL="0">
              <a:buNone/>
            </a:pPr>
            <a:r>
              <a:rPr lang="en-US" sz="2200" b="1" dirty="0">
                <a:solidFill>
                  <a:srgbClr val="64748B"/>
                </a:solidFill>
                <a:latin typeface="Georgia" pitchFamily="34" charset="0"/>
                <a:ea typeface="Georgia" pitchFamily="34" charset="-122"/>
                <a:cs typeface="Georgia" pitchFamily="34" charset="-120"/>
              </a:rPr>
              <a:t>4</a:t>
            </a:r>
            <a:endParaRPr lang="en-US" sz="2200" dirty="0"/>
          </a:p>
        </p:txBody>
      </p:sp>
      <p:sp>
        <p:nvSpPr>
          <p:cNvPr id="28" name="Text 26"/>
          <p:cNvSpPr/>
          <p:nvPr/>
        </p:nvSpPr>
        <p:spPr>
          <a:xfrm>
            <a:off x="6254496" y="2834640"/>
            <a:ext cx="1783080" cy="457200"/>
          </a:xfrm>
          <a:prstGeom prst="rect">
            <a:avLst/>
          </a:prstGeom>
          <a:noFill/>
          <a:ln/>
        </p:spPr>
        <p:txBody>
          <a:bodyPr wrap="square" lIns="0" tIns="0" rIns="0" bIns="0"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Analyze</a:t>
            </a:r>
            <a:endParaRPr lang="en-US" sz="1600" dirty="0"/>
          </a:p>
        </p:txBody>
      </p:sp>
      <p:sp>
        <p:nvSpPr>
          <p:cNvPr id="29" name="Text 27"/>
          <p:cNvSpPr/>
          <p:nvPr/>
        </p:nvSpPr>
        <p:spPr>
          <a:xfrm>
            <a:off x="6345936" y="3246120"/>
            <a:ext cx="1600200" cy="64008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Decide what matters</a:t>
            </a:r>
            <a:endParaRPr lang="en-US" sz="1150" dirty="0"/>
          </a:p>
        </p:txBody>
      </p:sp>
      <p:sp>
        <p:nvSpPr>
          <p:cNvPr id="30" name="Text 28"/>
          <p:cNvSpPr/>
          <p:nvPr/>
        </p:nvSpPr>
        <p:spPr>
          <a:xfrm>
            <a:off x="6254496" y="4023360"/>
            <a:ext cx="1783080" cy="320040"/>
          </a:xfrm>
          <a:prstGeom prst="rect">
            <a:avLst/>
          </a:prstGeom>
          <a:noFill/>
          <a:ln/>
        </p:spPr>
        <p:txBody>
          <a:bodyPr wrap="square" lIns="0" tIns="0" rIns="0" bIns="0" rtlCol="0" anchor="ctr"/>
          <a:lstStyle/>
          <a:p>
            <a:pPr algn="ctr" indent="0" marL="0">
              <a:buNone/>
            </a:pPr>
            <a:r>
              <a:rPr lang="en-US" sz="950" b="1" spc="100" kern="0" dirty="0">
                <a:solidFill>
                  <a:srgbClr val="1E293B"/>
                </a:solidFill>
                <a:latin typeface="Calibri" pitchFamily="34" charset="0"/>
                <a:ea typeface="Calibri" pitchFamily="34" charset="-122"/>
                <a:cs typeface="Calibri" pitchFamily="34" charset="-120"/>
              </a:rPr>
              <a:t>YOU DECIDE</a:t>
            </a:r>
            <a:endParaRPr lang="en-US" sz="950" dirty="0"/>
          </a:p>
        </p:txBody>
      </p:sp>
      <p:sp>
        <p:nvSpPr>
          <p:cNvPr id="31" name="Text 29"/>
          <p:cNvSpPr/>
          <p:nvPr/>
        </p:nvSpPr>
        <p:spPr>
          <a:xfrm>
            <a:off x="8019288" y="2743200"/>
            <a:ext cx="256032" cy="914400"/>
          </a:xfrm>
          <a:prstGeom prst="rect">
            <a:avLst/>
          </a:prstGeom>
          <a:noFill/>
          <a:ln/>
        </p:spPr>
        <p:txBody>
          <a:bodyPr wrap="square" lIns="0" tIns="0" rIns="0" bIns="0"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&gt;</a:t>
            </a:r>
            <a:endParaRPr lang="en-US" sz="2200" dirty="0"/>
          </a:p>
        </p:txBody>
      </p:sp>
      <p:sp>
        <p:nvSpPr>
          <p:cNvPr id="32" name="Shape 30"/>
          <p:cNvSpPr/>
          <p:nvPr/>
        </p:nvSpPr>
        <p:spPr>
          <a:xfrm>
            <a:off x="8156448" y="2148840"/>
            <a:ext cx="1783080" cy="2286000"/>
          </a:xfrm>
          <a:prstGeom prst="roundRect">
            <a:avLst>
              <a:gd name="adj" fmla="val 5128"/>
            </a:avLst>
          </a:prstGeom>
          <a:solidFill>
            <a:srgbClr val="E7F4EC"/>
          </a:solidFill>
          <a:ln w="19050">
            <a:solidFill>
              <a:srgbClr val="0D9488"/>
            </a:solidFill>
            <a:prstDash val="solid"/>
          </a:ln>
          <a:effectLst>
            <a:outerShdw sx="100000" sy="100000" kx="0" ky="0" algn="bl" rotWithShape="0" blurRad="88900" dist="38100" dir="8100000">
              <a:srgbClr val="000000">
                <a:alpha val="12000"/>
              </a:srgbClr>
            </a:outerShdw>
          </a:effectLst>
        </p:spPr>
        <p:txBody>
          <a:bodyPr/>
          <a:p/>
        </p:txBody>
      </p:sp>
      <p:sp>
        <p:nvSpPr>
          <p:cNvPr id="33" name="Text 31"/>
          <p:cNvSpPr/>
          <p:nvPr/>
        </p:nvSpPr>
        <p:spPr>
          <a:xfrm>
            <a:off x="8156448" y="2331720"/>
            <a:ext cx="1783080" cy="457200"/>
          </a:xfrm>
          <a:prstGeom prst="rect">
            <a:avLst/>
          </a:prstGeom>
          <a:noFill/>
          <a:ln/>
        </p:spPr>
        <p:txBody>
          <a:bodyPr wrap="square" lIns="0" tIns="0" rIns="0" bIns="0" rtlCol="0" anchor="ctr"/>
          <a:lstStyle/>
          <a:p>
            <a:pPr algn="ctr" indent="0" marL="0">
              <a:buNone/>
            </a:pPr>
            <a:r>
              <a:rPr lang="en-US" sz="2200" b="1" dirty="0">
                <a:solidFill>
                  <a:srgbClr val="0D9488"/>
                </a:solidFill>
                <a:latin typeface="Georgia" pitchFamily="34" charset="0"/>
                <a:ea typeface="Georgia" pitchFamily="34" charset="-122"/>
                <a:cs typeface="Georgia" pitchFamily="34" charset="-120"/>
              </a:rPr>
              <a:t>5</a:t>
            </a:r>
            <a:endParaRPr lang="en-US" sz="2200" dirty="0"/>
          </a:p>
        </p:txBody>
      </p:sp>
      <p:sp>
        <p:nvSpPr>
          <p:cNvPr id="34" name="Text 32"/>
          <p:cNvSpPr/>
          <p:nvPr/>
        </p:nvSpPr>
        <p:spPr>
          <a:xfrm>
            <a:off x="8156448" y="2834640"/>
            <a:ext cx="1783080" cy="457200"/>
          </a:xfrm>
          <a:prstGeom prst="rect">
            <a:avLst/>
          </a:prstGeom>
          <a:noFill/>
          <a:ln/>
        </p:spPr>
        <p:txBody>
          <a:bodyPr wrap="square" lIns="0" tIns="0" rIns="0" bIns="0"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Build report</a:t>
            </a:r>
            <a:endParaRPr lang="en-US" sz="1600" dirty="0"/>
          </a:p>
        </p:txBody>
      </p:sp>
      <p:sp>
        <p:nvSpPr>
          <p:cNvPr id="35" name="Text 33"/>
          <p:cNvSpPr/>
          <p:nvPr/>
        </p:nvSpPr>
        <p:spPr>
          <a:xfrm>
            <a:off x="8247888" y="3246120"/>
            <a:ext cx="1600200" cy="64008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Structure &amp; format</a:t>
            </a:r>
            <a:endParaRPr lang="en-US" sz="1150" dirty="0"/>
          </a:p>
        </p:txBody>
      </p:sp>
      <p:sp>
        <p:nvSpPr>
          <p:cNvPr id="36" name="Text 34"/>
          <p:cNvSpPr/>
          <p:nvPr/>
        </p:nvSpPr>
        <p:spPr>
          <a:xfrm>
            <a:off x="8156448" y="4023360"/>
            <a:ext cx="1783080" cy="320040"/>
          </a:xfrm>
          <a:prstGeom prst="rect">
            <a:avLst/>
          </a:prstGeom>
          <a:noFill/>
          <a:ln/>
        </p:spPr>
        <p:txBody>
          <a:bodyPr wrap="square" lIns="0" tIns="0" rIns="0" bIns="0" rtlCol="0" anchor="ctr"/>
          <a:lstStyle/>
          <a:p>
            <a:pPr algn="ctr" indent="0" marL="0">
              <a:buNone/>
            </a:pPr>
            <a:r>
              <a:rPr lang="en-US" sz="950" b="1" spc="100" kern="0" dirty="0">
                <a:solidFill>
                  <a:srgbClr val="0D9488"/>
                </a:solidFill>
                <a:latin typeface="Calibri" pitchFamily="34" charset="0"/>
                <a:ea typeface="Calibri" pitchFamily="34" charset="-122"/>
                <a:cs typeface="Calibri" pitchFamily="34" charset="-120"/>
              </a:rPr>
              <a:t>AI DOES THE WORK</a:t>
            </a:r>
            <a:endParaRPr lang="en-US" sz="950" dirty="0"/>
          </a:p>
        </p:txBody>
      </p:sp>
      <p:sp>
        <p:nvSpPr>
          <p:cNvPr id="37" name="Text 35"/>
          <p:cNvSpPr/>
          <p:nvPr/>
        </p:nvSpPr>
        <p:spPr>
          <a:xfrm>
            <a:off x="9921240" y="2743200"/>
            <a:ext cx="256032" cy="914400"/>
          </a:xfrm>
          <a:prstGeom prst="rect">
            <a:avLst/>
          </a:prstGeom>
          <a:noFill/>
          <a:ln/>
        </p:spPr>
        <p:txBody>
          <a:bodyPr wrap="square" lIns="0" tIns="0" rIns="0" bIns="0"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&gt;</a:t>
            </a:r>
            <a:endParaRPr lang="en-US" sz="2200" dirty="0"/>
          </a:p>
        </p:txBody>
      </p:sp>
      <p:sp>
        <p:nvSpPr>
          <p:cNvPr id="38" name="Shape 36"/>
          <p:cNvSpPr/>
          <p:nvPr/>
        </p:nvSpPr>
        <p:spPr>
          <a:xfrm>
            <a:off x="10058400" y="2148840"/>
            <a:ext cx="1783080" cy="2286000"/>
          </a:xfrm>
          <a:prstGeom prst="roundRect">
            <a:avLst>
              <a:gd name="adj" fmla="val 5128"/>
            </a:avLst>
          </a:prstGeom>
          <a:solidFill>
            <a:srgbClr val="E7F4EC"/>
          </a:solidFill>
          <a:ln w="19050">
            <a:solidFill>
              <a:srgbClr val="0D9488"/>
            </a:solidFill>
            <a:prstDash val="solid"/>
          </a:ln>
          <a:effectLst>
            <a:outerShdw sx="100000" sy="100000" kx="0" ky="0" algn="bl" rotWithShape="0" blurRad="88900" dist="38100" dir="8100000">
              <a:srgbClr val="000000">
                <a:alpha val="12000"/>
              </a:srgbClr>
            </a:outerShdw>
          </a:effectLst>
        </p:spPr>
        <p:txBody>
          <a:bodyPr/>
          <a:p/>
        </p:txBody>
      </p:sp>
      <p:sp>
        <p:nvSpPr>
          <p:cNvPr id="39" name="Text 37"/>
          <p:cNvSpPr/>
          <p:nvPr/>
        </p:nvSpPr>
        <p:spPr>
          <a:xfrm>
            <a:off x="10058400" y="2331720"/>
            <a:ext cx="1783080" cy="457200"/>
          </a:xfrm>
          <a:prstGeom prst="rect">
            <a:avLst/>
          </a:prstGeom>
          <a:noFill/>
          <a:ln/>
        </p:spPr>
        <p:txBody>
          <a:bodyPr wrap="square" lIns="0" tIns="0" rIns="0" bIns="0" rtlCol="0" anchor="ctr"/>
          <a:lstStyle/>
          <a:p>
            <a:pPr algn="ctr" indent="0" marL="0">
              <a:buNone/>
            </a:pPr>
            <a:r>
              <a:rPr lang="en-US" sz="2200" b="1" dirty="0">
                <a:solidFill>
                  <a:srgbClr val="0D9488"/>
                </a:solidFill>
                <a:latin typeface="Georgia" pitchFamily="34" charset="0"/>
                <a:ea typeface="Georgia" pitchFamily="34" charset="-122"/>
                <a:cs typeface="Georgia" pitchFamily="34" charset="-120"/>
              </a:rPr>
              <a:t>6</a:t>
            </a:r>
            <a:endParaRPr lang="en-US" sz="2200" dirty="0"/>
          </a:p>
        </p:txBody>
      </p:sp>
      <p:sp>
        <p:nvSpPr>
          <p:cNvPr id="40" name="Text 38"/>
          <p:cNvSpPr/>
          <p:nvPr/>
        </p:nvSpPr>
        <p:spPr>
          <a:xfrm>
            <a:off x="10058400" y="2834640"/>
            <a:ext cx="1783080" cy="457200"/>
          </a:xfrm>
          <a:prstGeom prst="rect">
            <a:avLst/>
          </a:prstGeom>
          <a:noFill/>
          <a:ln/>
        </p:spPr>
        <p:txBody>
          <a:bodyPr wrap="square" lIns="0" tIns="0" rIns="0" bIns="0"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Narrate</a:t>
            </a:r>
            <a:endParaRPr lang="en-US" sz="1600" dirty="0"/>
          </a:p>
        </p:txBody>
      </p:sp>
      <p:sp>
        <p:nvSpPr>
          <p:cNvPr id="41" name="Text 39"/>
          <p:cNvSpPr/>
          <p:nvPr/>
        </p:nvSpPr>
        <p:spPr>
          <a:xfrm>
            <a:off x="10149840" y="3246120"/>
            <a:ext cx="1600200" cy="64008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Draft the story</a:t>
            </a:r>
            <a:endParaRPr lang="en-US" sz="1150" dirty="0"/>
          </a:p>
        </p:txBody>
      </p:sp>
      <p:sp>
        <p:nvSpPr>
          <p:cNvPr id="42" name="Text 40"/>
          <p:cNvSpPr/>
          <p:nvPr/>
        </p:nvSpPr>
        <p:spPr>
          <a:xfrm>
            <a:off x="10058400" y="4023360"/>
            <a:ext cx="1783080" cy="320040"/>
          </a:xfrm>
          <a:prstGeom prst="rect">
            <a:avLst/>
          </a:prstGeom>
          <a:noFill/>
          <a:ln/>
        </p:spPr>
        <p:txBody>
          <a:bodyPr wrap="square" lIns="0" tIns="0" rIns="0" bIns="0" rtlCol="0" anchor="ctr"/>
          <a:lstStyle/>
          <a:p>
            <a:pPr algn="ctr" indent="0" marL="0">
              <a:buNone/>
            </a:pPr>
            <a:r>
              <a:rPr lang="en-US" sz="950" b="1" spc="100" kern="0" dirty="0">
                <a:solidFill>
                  <a:srgbClr val="0D9488"/>
                </a:solidFill>
                <a:latin typeface="Calibri" pitchFamily="34" charset="0"/>
                <a:ea typeface="Calibri" pitchFamily="34" charset="-122"/>
                <a:cs typeface="Calibri" pitchFamily="34" charset="-120"/>
              </a:rPr>
              <a:t>AI DOES THE WORK</a:t>
            </a:r>
            <a:endParaRPr lang="en-US" sz="950" dirty="0"/>
          </a:p>
        </p:txBody>
      </p:sp>
      <p:sp>
        <p:nvSpPr>
          <p:cNvPr id="43" name="Shape 41"/>
          <p:cNvSpPr/>
          <p:nvPr/>
        </p:nvSpPr>
        <p:spPr>
          <a:xfrm>
            <a:off x="3383280" y="4937760"/>
            <a:ext cx="228600" cy="228600"/>
          </a:xfrm>
          <a:prstGeom prst="ellipse">
            <a:avLst/>
          </a:prstGeom>
          <a:solidFill>
            <a:srgbClr val="0D9488"/>
          </a:solidFill>
          <a:ln/>
        </p:spPr>
        <p:txBody>
          <a:bodyPr/>
          <a:p/>
        </p:txBody>
      </p:sp>
      <p:sp>
        <p:nvSpPr>
          <p:cNvPr id="44" name="Text 42"/>
          <p:cNvSpPr/>
          <p:nvPr/>
        </p:nvSpPr>
        <p:spPr>
          <a:xfrm>
            <a:off x="3657600" y="4873752"/>
            <a:ext cx="4114800" cy="36576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Green = delegate to AI (we do these live)</a:t>
            </a:r>
            <a:endParaRPr lang="en-US" sz="1300" dirty="0"/>
          </a:p>
        </p:txBody>
      </p:sp>
      <p:sp>
        <p:nvSpPr>
          <p:cNvPr id="45" name="Shape 43"/>
          <p:cNvSpPr/>
          <p:nvPr/>
        </p:nvSpPr>
        <p:spPr>
          <a:xfrm>
            <a:off x="7680960" y="4937760"/>
            <a:ext cx="228600" cy="228600"/>
          </a:xfrm>
          <a:prstGeom prst="ellipse">
            <a:avLst/>
          </a:prstGeom>
          <a:solidFill>
            <a:srgbClr val="1E293B"/>
          </a:solidFill>
          <a:ln/>
        </p:spPr>
        <p:txBody>
          <a:bodyPr/>
          <a:p/>
        </p:txBody>
      </p:sp>
      <p:sp>
        <p:nvSpPr>
          <p:cNvPr id="46" name="Text 44"/>
          <p:cNvSpPr/>
          <p:nvPr/>
        </p:nvSpPr>
        <p:spPr>
          <a:xfrm>
            <a:off x="7955280" y="4873752"/>
            <a:ext cx="3931920" cy="36576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Grey = your judgment stays in charge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6F4F2"/>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D9488"/>
          </a:solidFill>
          <a:ln/>
        </p:spPr>
        <p:txBody>
          <a:bodyPr/>
          <a:p/>
        </p:txBody>
      </p:sp>
      <p:sp>
        <p:nvSpPr>
          <p:cNvPr id="3" name="Text 1"/>
          <p:cNvSpPr/>
          <p:nvPr/>
        </p:nvSpPr>
        <p:spPr>
          <a:xfrm>
            <a:off x="1005840" y="1280160"/>
            <a:ext cx="10058400" cy="365760"/>
          </a:xfrm>
          <a:prstGeom prst="rect">
            <a:avLst/>
          </a:prstGeom>
          <a:noFill/>
          <a:ln/>
        </p:spPr>
        <p:txBody>
          <a:bodyPr wrap="square" lIns="0" tIns="0" rIns="0" bIns="0" rtlCol="0" anchor="ctr"/>
          <a:lstStyle/>
          <a:p>
            <a:pPr indent="0" marL="0">
              <a:buNone/>
            </a:pPr>
            <a:r>
              <a:rPr lang="en-US" sz="1400" b="1" spc="200" kern="0" dirty="0">
                <a:solidFill>
                  <a:srgbClr val="0D9488"/>
                </a:solidFill>
                <a:latin typeface="Calibri" pitchFamily="34" charset="0"/>
                <a:ea typeface="Calibri" pitchFamily="34" charset="-122"/>
                <a:cs typeface="Calibri" pitchFamily="34" charset="-120"/>
              </a:rPr>
              <a:t>THE ONE RULE TO REMEMBER</a:t>
            </a:r>
            <a:endParaRPr lang="en-US" sz="1400" dirty="0"/>
          </a:p>
        </p:txBody>
      </p:sp>
      <p:sp>
        <p:nvSpPr>
          <p:cNvPr id="4" name="Text 2"/>
          <p:cNvSpPr/>
          <p:nvPr/>
        </p:nvSpPr>
        <p:spPr>
          <a:xfrm>
            <a:off x="960120" y="1828800"/>
            <a:ext cx="10241280" cy="2103120"/>
          </a:xfrm>
          <a:prstGeom prst="rect">
            <a:avLst/>
          </a:prstGeom>
          <a:noFill/>
          <a:ln/>
        </p:spPr>
        <p:txBody>
          <a:bodyPr wrap="square" lIns="0" tIns="0" rIns="0" bIns="0" rtlCol="0" anchor="ctr"/>
          <a:lstStyle/>
          <a:p>
            <a:pPr indent="0" marL="0">
              <a:lnSpc>
                <a:spcPct val="105000"/>
              </a:lnSpc>
              <a:buNone/>
            </a:pPr>
            <a:r>
              <a:rPr lang="en-US" sz="5000" b="1" dirty="0">
                <a:solidFill>
                  <a:srgbClr val="1E293B"/>
                </a:solidFill>
                <a:latin typeface="Georgia" pitchFamily="34" charset="0"/>
                <a:ea typeface="Georgia" pitchFamily="34" charset="-122"/>
                <a:cs typeface="Georgia" pitchFamily="34" charset="-120"/>
              </a:rPr>
              <a:t xml:space="preserve">Delegate the </a:t>
            </a:r>
            <a:pPr indent="0" marL="0">
              <a:lnSpc>
                <a:spcPct val="105000"/>
              </a:lnSpc>
              <a:buNone/>
            </a:pPr>
            <a:r>
              <a:rPr lang="en-US" sz="5000" b="1" dirty="0">
                <a:solidFill>
                  <a:srgbClr val="0D9488"/>
                </a:solidFill>
                <a:latin typeface="Georgia" pitchFamily="34" charset="0"/>
                <a:ea typeface="Georgia" pitchFamily="34" charset="-122"/>
                <a:cs typeface="Georgia" pitchFamily="34" charset="-120"/>
              </a:rPr>
              <a:t>grunt work</a:t>
            </a:r>
            <a:pPr indent="0" marL="0">
              <a:lnSpc>
                <a:spcPct val="105000"/>
              </a:lnSpc>
              <a:buNone/>
            </a:pPr>
            <a:r>
              <a:rPr lang="en-US" sz="5000" b="1" dirty="0">
                <a:solidFill>
                  <a:srgbClr val="1E293B"/>
                </a:solidFill>
                <a:latin typeface="Georgia" pitchFamily="34" charset="0"/>
                <a:ea typeface="Georgia" pitchFamily="34" charset="-122"/>
                <a:cs typeface="Georgia" pitchFamily="34" charset="-120"/>
              </a:rPr>
              <a:t>.</a:t>
            </a:r>
            <a:endParaRPr lang="en-US" sz="5000" dirty="0"/>
          </a:p>
          <a:p>
            <a:pPr indent="0" marL="0">
              <a:lnSpc>
                <a:spcPct val="105000"/>
              </a:lnSpc>
              <a:buNone/>
            </a:pPr>
            <a:r>
              <a:rPr lang="en-US" sz="5000" b="1" dirty="0">
                <a:solidFill>
                  <a:srgbClr val="1E293B"/>
                </a:solidFill>
                <a:latin typeface="Georgia" pitchFamily="34" charset="0"/>
                <a:ea typeface="Georgia" pitchFamily="34" charset="-122"/>
                <a:cs typeface="Georgia" pitchFamily="34" charset="-120"/>
              </a:rPr>
              <a:t xml:space="preserve">Keep the </a:t>
            </a:r>
            <a:endParaRPr lang="en-US" sz="5000" dirty="0"/>
          </a:p>
          <a:p>
            <a:pPr indent="0" marL="0">
              <a:lnSpc>
                <a:spcPct val="105000"/>
              </a:lnSpc>
              <a:buNone/>
            </a:pPr>
            <a:r>
              <a:rPr lang="en-US" sz="5000" b="1" dirty="0">
                <a:solidFill>
                  <a:srgbClr val="F59E0B"/>
                </a:solidFill>
                <a:latin typeface="Georgia" pitchFamily="34" charset="0"/>
                <a:ea typeface="Georgia" pitchFamily="34" charset="-122"/>
                <a:cs typeface="Georgia" pitchFamily="34" charset="-120"/>
              </a:rPr>
              <a:t>judgment</a:t>
            </a:r>
            <a:pPr indent="0" marL="0">
              <a:lnSpc>
                <a:spcPct val="105000"/>
              </a:lnSpc>
              <a:buNone/>
            </a:pPr>
            <a:r>
              <a:rPr lang="en-US" sz="5000" b="1" dirty="0">
                <a:solidFill>
                  <a:srgbClr val="1E293B"/>
                </a:solidFill>
                <a:latin typeface="Georgia" pitchFamily="34" charset="0"/>
                <a:ea typeface="Georgia" pitchFamily="34" charset="-122"/>
                <a:cs typeface="Georgia" pitchFamily="34" charset="-120"/>
              </a:rPr>
              <a:t>.</a:t>
            </a:r>
            <a:endParaRPr lang="en-US" sz="5000" dirty="0"/>
          </a:p>
        </p:txBody>
      </p:sp>
      <p:sp>
        <p:nvSpPr>
          <p:cNvPr id="5" name="Text 3"/>
          <p:cNvSpPr/>
          <p:nvPr/>
        </p:nvSpPr>
        <p:spPr>
          <a:xfrm>
            <a:off x="1005840" y="4297680"/>
            <a:ext cx="9875520" cy="914400"/>
          </a:xfrm>
          <a:prstGeom prst="rect">
            <a:avLst/>
          </a:prstGeom>
          <a:noFill/>
          <a:ln/>
        </p:spPr>
        <p:txBody>
          <a:bodyPr wrap="square" lIns="0" tIns="0" rIns="0" bIns="0" rtlCol="0" anchor="ctr"/>
          <a:lstStyle/>
          <a:p>
            <a:pPr indent="0" marL="0">
              <a:buNone/>
            </a:pPr>
            <a:r>
              <a:rPr lang="en-US" sz="1800" i="1" dirty="0">
                <a:solidFill>
                  <a:srgbClr val="64748B"/>
                </a:solidFill>
                <a:latin typeface="Calibri" pitchFamily="34" charset="0"/>
                <a:ea typeface="Calibri" pitchFamily="34" charset="-122"/>
                <a:cs typeface="Calibri" pitchFamily="34" charset="-120"/>
              </a:rPr>
              <a:t>If a task has a right answer you could check, let AI do it fast - then verify. If a task needs a point of view, that's yours.</a:t>
            </a:r>
            <a:endParaRPr lang="en-US" sz="1800" dirty="0"/>
          </a:p>
        </p:txBody>
      </p:sp>
      <p:sp>
        <p:nvSpPr>
          <p:cNvPr id="6" name="Shape 4"/>
          <p:cNvSpPr/>
          <p:nvPr/>
        </p:nvSpPr>
        <p:spPr>
          <a:xfrm>
            <a:off x="9921240" y="384048"/>
            <a:ext cx="1783080" cy="457200"/>
          </a:xfrm>
          <a:prstGeom prst="roundRect">
            <a:avLst>
              <a:gd name="adj" fmla="val 50000"/>
            </a:avLst>
          </a:prstGeom>
          <a:solidFill>
            <a:srgbClr val="E6F4F2"/>
          </a:solidFill>
          <a:ln/>
        </p:spPr>
        <p:txBody>
          <a:bodyPr/>
          <a:p/>
        </p:txBody>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10-12 min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D9488"/>
          </a:solidFill>
          <a:ln/>
        </p:spPr>
        <p:txBody>
          <a:bodyPr/>
          <a:p/>
        </p:txBody>
      </p:sp>
      <p:sp>
        <p:nvSpPr>
          <p:cNvPr id="3" name="Text 1"/>
          <p:cNvSpPr/>
          <p:nvPr/>
        </p:nvSpPr>
        <p:spPr>
          <a:xfrm>
            <a:off x="822960" y="1554480"/>
            <a:ext cx="2743200" cy="1463040"/>
          </a:xfrm>
          <a:prstGeom prst="rect">
            <a:avLst/>
          </a:prstGeom>
          <a:noFill/>
          <a:ln/>
        </p:spPr>
        <p:txBody>
          <a:bodyPr wrap="square" lIns="0" tIns="0" rIns="0" bIns="0" rtlCol="0" anchor="ctr"/>
          <a:lstStyle/>
          <a:p>
            <a:pPr indent="0" marL="0">
              <a:buNone/>
            </a:pPr>
            <a:r>
              <a:rPr lang="en-US" sz="9600" b="1" dirty="0">
                <a:solidFill>
                  <a:srgbClr val="0D9488"/>
                </a:solidFill>
                <a:latin typeface="Georgia" pitchFamily="34" charset="0"/>
                <a:ea typeface="Georgia" pitchFamily="34" charset="-122"/>
                <a:cs typeface="Georgia" pitchFamily="34" charset="-120"/>
              </a:rPr>
              <a:t>02</a:t>
            </a:r>
            <a:endParaRPr lang="en-US" sz="9600" dirty="0"/>
          </a:p>
        </p:txBody>
      </p:sp>
      <p:sp>
        <p:nvSpPr>
          <p:cNvPr id="4" name="Text 2"/>
          <p:cNvSpPr/>
          <p:nvPr/>
        </p:nvSpPr>
        <p:spPr>
          <a:xfrm>
            <a:off x="868680" y="2971800"/>
            <a:ext cx="10424160" cy="10972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Clean a messy export</a:t>
            </a:r>
            <a:endParaRPr lang="en-US" sz="3800" dirty="0"/>
          </a:p>
        </p:txBody>
      </p:sp>
      <p:sp>
        <p:nvSpPr>
          <p:cNvPr id="5" name="Text 3"/>
          <p:cNvSpPr/>
          <p:nvPr/>
        </p:nvSpPr>
        <p:spPr>
          <a:xfrm>
            <a:off x="914400" y="4114800"/>
            <a:ext cx="10058400" cy="1097280"/>
          </a:xfrm>
          <a:prstGeom prst="rect">
            <a:avLst/>
          </a:prstGeom>
          <a:noFill/>
          <a:ln/>
        </p:spPr>
        <p:txBody>
          <a:bodyPr wrap="square" lIns="0" tIns="0" rIns="0" bIns="0" rtlCol="0" anchor="ctr"/>
          <a:lstStyle/>
          <a:p>
            <a:pPr indent="0" marL="0">
              <a:buNone/>
            </a:pPr>
            <a:r>
              <a:rPr lang="en-US" sz="1700" dirty="0">
                <a:solidFill>
                  <a:srgbClr val="5EEAD4"/>
                </a:solidFill>
                <a:latin typeface="Calibri" pitchFamily="34" charset="0"/>
                <a:ea typeface="Calibri" pitchFamily="34" charset="-122"/>
                <a:cs typeface="Calibri" pitchFamily="34" charset="-120"/>
              </a:rPr>
              <a:t>LIVE - Exercise 1 - dates, text, blanks &amp; categories</a:t>
            </a:r>
            <a:endParaRPr lang="en-US" sz="1700" dirty="0"/>
          </a:p>
        </p:txBody>
      </p:sp>
      <p:sp>
        <p:nvSpPr>
          <p:cNvPr id="6" name="Shape 4"/>
          <p:cNvSpPr/>
          <p:nvPr/>
        </p:nvSpPr>
        <p:spPr>
          <a:xfrm>
            <a:off x="9921240" y="384048"/>
            <a:ext cx="1783080" cy="457200"/>
          </a:xfrm>
          <a:prstGeom prst="roundRect">
            <a:avLst>
              <a:gd name="adj" fmla="val 50000"/>
            </a:avLst>
          </a:prstGeom>
          <a:solidFill>
            <a:srgbClr val="0D9488"/>
          </a:solidFill>
          <a:ln/>
        </p:spPr>
        <p:txBody>
          <a:bodyPr/>
          <a:p/>
        </p:txBody>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12-24 min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417320"/>
          </a:xfrm>
          <a:prstGeom prst="rect">
            <a:avLst/>
          </a:prstGeom>
          <a:solidFill>
            <a:srgbClr val="FFFFFF"/>
          </a:solidFill>
          <a:ln/>
        </p:spPr>
        <p:txBody>
          <a:bodyPr/>
          <a:p/>
        </p:txBody>
      </p:sp>
      <p:sp>
        <p:nvSpPr>
          <p:cNvPr id="3" name="Shape 1"/>
          <p:cNvSpPr/>
          <p:nvPr/>
        </p:nvSpPr>
        <p:spPr>
          <a:xfrm>
            <a:off x="0" y="1417320"/>
            <a:ext cx="12161520" cy="45720"/>
          </a:xfrm>
          <a:prstGeom prst="rect">
            <a:avLst/>
          </a:prstGeom>
          <a:solidFill>
            <a:srgbClr val="0D9488"/>
          </a:solidFill>
          <a:ln/>
        </p:spPr>
        <p:txBody>
          <a:bodyPr/>
          <a:p/>
        </p:txBody>
      </p:sp>
      <p:sp>
        <p:nvSpPr>
          <p:cNvPr id="4" name="Text 2"/>
          <p:cNvSpPr/>
          <p:nvPr/>
        </p:nvSpPr>
        <p:spPr>
          <a:xfrm>
            <a:off x="548640" y="365760"/>
            <a:ext cx="86868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EXERCISE 1 - SETUP</a:t>
            </a:r>
            <a:endParaRPr lang="en-US" sz="1200" dirty="0"/>
          </a:p>
        </p:txBody>
      </p:sp>
      <p:sp>
        <p:nvSpPr>
          <p:cNvPr id="5" name="Text 3"/>
          <p:cNvSpPr/>
          <p:nvPr/>
        </p:nvSpPr>
        <p:spPr>
          <a:xfrm>
            <a:off x="548640" y="658368"/>
            <a:ext cx="9326880" cy="73152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Look at the mess before you fix it</a:t>
            </a:r>
            <a:endParaRPr lang="en-US" sz="2700" dirty="0"/>
          </a:p>
        </p:txBody>
      </p:sp>
      <p:sp>
        <p:nvSpPr>
          <p:cNvPr id="6" name="Shape 4"/>
          <p:cNvSpPr/>
          <p:nvPr/>
        </p:nvSpPr>
        <p:spPr>
          <a:xfrm>
            <a:off x="9921240" y="384048"/>
            <a:ext cx="1783080" cy="457200"/>
          </a:xfrm>
          <a:prstGeom prst="roundRect">
            <a:avLst>
              <a:gd name="adj" fmla="val 50000"/>
            </a:avLst>
          </a:prstGeom>
          <a:solidFill>
            <a:srgbClr val="E6F4F2"/>
          </a:solidFill>
          <a:ln/>
        </p:spPr>
        <p:txBody>
          <a:bodyPr/>
          <a:p/>
        </p:txBody>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12-15 min</a:t>
            </a:r>
            <a:endParaRPr lang="en-US" sz="1200" dirty="0"/>
          </a:p>
        </p:txBody>
      </p:sp>
      <p:sp>
        <p:nvSpPr>
          <p:cNvPr id="8" name="Text 6"/>
          <p:cNvSpPr/>
          <p:nvPr/>
        </p:nvSpPr>
        <p:spPr>
          <a:xfrm>
            <a:off x="548640" y="1691640"/>
            <a:ext cx="1097280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sales_export_messy.csv - 15 rows, every classic problem:</a:t>
            </a:r>
            <a:endParaRPr lang="en-US" sz="1500" dirty="0"/>
          </a:p>
        </p:txBody>
      </p:sp>
      <p:sp>
        <p:nvSpPr>
          <p:cNvPr id="9" name="Shape 7"/>
          <p:cNvSpPr/>
          <p:nvPr/>
        </p:nvSpPr>
        <p:spPr>
          <a:xfrm>
            <a:off x="548640" y="2194560"/>
            <a:ext cx="5486400" cy="896112"/>
          </a:xfrm>
          <a:prstGeom prst="roundRect">
            <a:avLst>
              <a:gd name="adj" fmla="val 8163"/>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10" name="Shape 8"/>
          <p:cNvSpPr/>
          <p:nvPr/>
        </p:nvSpPr>
        <p:spPr>
          <a:xfrm>
            <a:off x="548640" y="2194560"/>
            <a:ext cx="82296" cy="896112"/>
          </a:xfrm>
          <a:prstGeom prst="rect">
            <a:avLst/>
          </a:prstGeom>
          <a:solidFill>
            <a:srgbClr val="F59E0B"/>
          </a:solidFill>
          <a:ln/>
        </p:spPr>
        <p:txBody>
          <a:bodyPr/>
          <a:p/>
        </p:txBody>
      </p:sp>
      <p:sp>
        <p:nvSpPr>
          <p:cNvPr id="11" name="Text 9"/>
          <p:cNvSpPr/>
          <p:nvPr/>
        </p:nvSpPr>
        <p:spPr>
          <a:xfrm>
            <a:off x="804672" y="2304288"/>
            <a:ext cx="5029200" cy="310896"/>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Dates</a:t>
            </a:r>
            <a:endParaRPr lang="en-US" sz="1450" dirty="0"/>
          </a:p>
        </p:txBody>
      </p:sp>
      <p:sp>
        <p:nvSpPr>
          <p:cNvPr id="12" name="Text 10"/>
          <p:cNvSpPr/>
          <p:nvPr/>
        </p:nvSpPr>
        <p:spPr>
          <a:xfrm>
            <a:off x="804672" y="2615184"/>
            <a:ext cx="5120640" cy="402336"/>
          </a:xfrm>
          <a:prstGeom prst="rect">
            <a:avLst/>
          </a:prstGeom>
          <a:noFill/>
          <a:ln/>
        </p:spPr>
        <p:txBody>
          <a:bodyPr wrap="square" lIns="0" tIns="0" rIns="0" bIns="0" rtlCol="0" anchor="ctr"/>
          <a:lstStyle/>
          <a:p>
            <a:pPr indent="0" marL="0">
              <a:buNone/>
            </a:pPr>
            <a:r>
              <a:rPr lang="en-US" sz="1100" dirty="0">
                <a:solidFill>
                  <a:srgbClr val="64748B"/>
                </a:solidFill>
                <a:latin typeface="Consolas" pitchFamily="34" charset="0"/>
                <a:ea typeface="Consolas" pitchFamily="34" charset="-122"/>
                <a:cs typeface="Consolas" pitchFamily="34" charset="-120"/>
              </a:rPr>
              <a:t>01/03/2026  |  2026-01-05  |  Jan 7 2026  |  2026/01/29</a:t>
            </a:r>
            <a:endParaRPr lang="en-US" sz="1100" dirty="0"/>
          </a:p>
        </p:txBody>
      </p:sp>
      <p:sp>
        <p:nvSpPr>
          <p:cNvPr id="13" name="Shape 11"/>
          <p:cNvSpPr/>
          <p:nvPr/>
        </p:nvSpPr>
        <p:spPr>
          <a:xfrm>
            <a:off x="6263640" y="2194560"/>
            <a:ext cx="5486400" cy="896112"/>
          </a:xfrm>
          <a:prstGeom prst="roundRect">
            <a:avLst>
              <a:gd name="adj" fmla="val 8163"/>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14" name="Shape 12"/>
          <p:cNvSpPr/>
          <p:nvPr/>
        </p:nvSpPr>
        <p:spPr>
          <a:xfrm>
            <a:off x="6263640" y="2194560"/>
            <a:ext cx="82296" cy="896112"/>
          </a:xfrm>
          <a:prstGeom prst="rect">
            <a:avLst/>
          </a:prstGeom>
          <a:solidFill>
            <a:srgbClr val="F59E0B"/>
          </a:solidFill>
          <a:ln/>
        </p:spPr>
        <p:txBody>
          <a:bodyPr/>
          <a:p/>
        </p:txBody>
      </p:sp>
      <p:sp>
        <p:nvSpPr>
          <p:cNvPr id="15" name="Text 13"/>
          <p:cNvSpPr/>
          <p:nvPr/>
        </p:nvSpPr>
        <p:spPr>
          <a:xfrm>
            <a:off x="6519672" y="2304288"/>
            <a:ext cx="5029200" cy="310896"/>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Text casing</a:t>
            </a:r>
            <a:endParaRPr lang="en-US" sz="1450" dirty="0"/>
          </a:p>
        </p:txBody>
      </p:sp>
      <p:sp>
        <p:nvSpPr>
          <p:cNvPr id="16" name="Text 14"/>
          <p:cNvSpPr/>
          <p:nvPr/>
        </p:nvSpPr>
        <p:spPr>
          <a:xfrm>
            <a:off x="6519672" y="2615184"/>
            <a:ext cx="5120640" cy="402336"/>
          </a:xfrm>
          <a:prstGeom prst="rect">
            <a:avLst/>
          </a:prstGeom>
          <a:noFill/>
          <a:ln/>
        </p:spPr>
        <p:txBody>
          <a:bodyPr wrap="square" lIns="0" tIns="0" rIns="0" bIns="0" rtlCol="0" anchor="ctr"/>
          <a:lstStyle/>
          <a:p>
            <a:pPr indent="0" marL="0">
              <a:buNone/>
            </a:pPr>
            <a:r>
              <a:rPr lang="en-US" sz="1100" dirty="0">
                <a:solidFill>
                  <a:srgbClr val="64748B"/>
                </a:solidFill>
                <a:latin typeface="Consolas" pitchFamily="34" charset="0"/>
                <a:ea typeface="Consolas" pitchFamily="34" charset="-122"/>
                <a:cs typeface="Consolas" pitchFamily="34" charset="-120"/>
              </a:rPr>
              <a:t>'Acme Corp' vs 'acme corp' vs 'Gamma  LLC' (double space)</a:t>
            </a:r>
            <a:endParaRPr lang="en-US" sz="1100" dirty="0"/>
          </a:p>
        </p:txBody>
      </p:sp>
      <p:sp>
        <p:nvSpPr>
          <p:cNvPr id="17" name="Shape 15"/>
          <p:cNvSpPr/>
          <p:nvPr/>
        </p:nvSpPr>
        <p:spPr>
          <a:xfrm>
            <a:off x="548640" y="3218688"/>
            <a:ext cx="5486400" cy="896112"/>
          </a:xfrm>
          <a:prstGeom prst="roundRect">
            <a:avLst>
              <a:gd name="adj" fmla="val 8163"/>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18" name="Shape 16"/>
          <p:cNvSpPr/>
          <p:nvPr/>
        </p:nvSpPr>
        <p:spPr>
          <a:xfrm>
            <a:off x="548640" y="3218688"/>
            <a:ext cx="82296" cy="896112"/>
          </a:xfrm>
          <a:prstGeom prst="rect">
            <a:avLst/>
          </a:prstGeom>
          <a:solidFill>
            <a:srgbClr val="F59E0B"/>
          </a:solidFill>
          <a:ln/>
        </p:spPr>
        <p:txBody>
          <a:bodyPr/>
          <a:p/>
        </p:txBody>
      </p:sp>
      <p:sp>
        <p:nvSpPr>
          <p:cNvPr id="19" name="Text 17"/>
          <p:cNvSpPr/>
          <p:nvPr/>
        </p:nvSpPr>
        <p:spPr>
          <a:xfrm>
            <a:off x="804672" y="3328416"/>
            <a:ext cx="5029200" cy="310896"/>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Trailing spaces</a:t>
            </a:r>
            <a:endParaRPr lang="en-US" sz="1450" dirty="0"/>
          </a:p>
        </p:txBody>
      </p:sp>
      <p:sp>
        <p:nvSpPr>
          <p:cNvPr id="20" name="Text 18"/>
          <p:cNvSpPr/>
          <p:nvPr/>
        </p:nvSpPr>
        <p:spPr>
          <a:xfrm>
            <a:off x="804672" y="3639312"/>
            <a:ext cx="5120640" cy="402336"/>
          </a:xfrm>
          <a:prstGeom prst="rect">
            <a:avLst/>
          </a:prstGeom>
          <a:noFill/>
          <a:ln/>
        </p:spPr>
        <p:txBody>
          <a:bodyPr wrap="square" lIns="0" tIns="0" rIns="0" bIns="0" rtlCol="0" anchor="ctr"/>
          <a:lstStyle/>
          <a:p>
            <a:pPr indent="0" marL="0">
              <a:buNone/>
            </a:pPr>
            <a:r>
              <a:rPr lang="en-US" sz="1100" dirty="0">
                <a:solidFill>
                  <a:srgbClr val="64748B"/>
                </a:solidFill>
                <a:latin typeface="Consolas" pitchFamily="34" charset="0"/>
                <a:ea typeface="Consolas" pitchFamily="34" charset="-122"/>
                <a:cs typeface="Consolas" pitchFamily="34" charset="-120"/>
              </a:rPr>
              <a:t>'Acme Corp ' and 'west ' won't group correctly</a:t>
            </a:r>
            <a:endParaRPr lang="en-US" sz="1100" dirty="0"/>
          </a:p>
        </p:txBody>
      </p:sp>
      <p:sp>
        <p:nvSpPr>
          <p:cNvPr id="21" name="Shape 19"/>
          <p:cNvSpPr/>
          <p:nvPr/>
        </p:nvSpPr>
        <p:spPr>
          <a:xfrm>
            <a:off x="6263640" y="3218688"/>
            <a:ext cx="5486400" cy="896112"/>
          </a:xfrm>
          <a:prstGeom prst="roundRect">
            <a:avLst>
              <a:gd name="adj" fmla="val 8163"/>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22" name="Shape 20"/>
          <p:cNvSpPr/>
          <p:nvPr/>
        </p:nvSpPr>
        <p:spPr>
          <a:xfrm>
            <a:off x="6263640" y="3218688"/>
            <a:ext cx="82296" cy="896112"/>
          </a:xfrm>
          <a:prstGeom prst="rect">
            <a:avLst/>
          </a:prstGeom>
          <a:solidFill>
            <a:srgbClr val="F59E0B"/>
          </a:solidFill>
          <a:ln/>
        </p:spPr>
        <p:txBody>
          <a:bodyPr/>
          <a:p/>
        </p:txBody>
      </p:sp>
      <p:sp>
        <p:nvSpPr>
          <p:cNvPr id="23" name="Text 21"/>
          <p:cNvSpPr/>
          <p:nvPr/>
        </p:nvSpPr>
        <p:spPr>
          <a:xfrm>
            <a:off x="6519672" y="3328416"/>
            <a:ext cx="5029200" cy="310896"/>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Blanks</a:t>
            </a:r>
            <a:endParaRPr lang="en-US" sz="1450" dirty="0"/>
          </a:p>
        </p:txBody>
      </p:sp>
      <p:sp>
        <p:nvSpPr>
          <p:cNvPr id="24" name="Text 22"/>
          <p:cNvSpPr/>
          <p:nvPr/>
        </p:nvSpPr>
        <p:spPr>
          <a:xfrm>
            <a:off x="6519672" y="3639312"/>
            <a:ext cx="5120640" cy="402336"/>
          </a:xfrm>
          <a:prstGeom prst="rect">
            <a:avLst/>
          </a:prstGeom>
          <a:noFill/>
          <a:ln/>
        </p:spPr>
        <p:txBody>
          <a:bodyPr wrap="square" lIns="0" tIns="0" rIns="0" bIns="0" rtlCol="0" anchor="ctr"/>
          <a:lstStyle/>
          <a:p>
            <a:pPr indent="0" marL="0">
              <a:buNone/>
            </a:pPr>
            <a:r>
              <a:rPr lang="en-US" sz="1100" dirty="0">
                <a:solidFill>
                  <a:srgbClr val="64748B"/>
                </a:solidFill>
                <a:latin typeface="Consolas" pitchFamily="34" charset="0"/>
                <a:ea typeface="Consolas" pitchFamily="34" charset="-122"/>
                <a:cs typeface="Consolas" pitchFamily="34" charset="-120"/>
              </a:rPr>
              <a:t>Missing Units and Revenue on some rows</a:t>
            </a:r>
            <a:endParaRPr lang="en-US" sz="1100" dirty="0"/>
          </a:p>
        </p:txBody>
      </p:sp>
      <p:sp>
        <p:nvSpPr>
          <p:cNvPr id="25" name="Shape 23"/>
          <p:cNvSpPr/>
          <p:nvPr/>
        </p:nvSpPr>
        <p:spPr>
          <a:xfrm>
            <a:off x="548640" y="4242816"/>
            <a:ext cx="5486400" cy="896112"/>
          </a:xfrm>
          <a:prstGeom prst="roundRect">
            <a:avLst>
              <a:gd name="adj" fmla="val 8163"/>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26" name="Shape 24"/>
          <p:cNvSpPr/>
          <p:nvPr/>
        </p:nvSpPr>
        <p:spPr>
          <a:xfrm>
            <a:off x="548640" y="4242816"/>
            <a:ext cx="82296" cy="896112"/>
          </a:xfrm>
          <a:prstGeom prst="rect">
            <a:avLst/>
          </a:prstGeom>
          <a:solidFill>
            <a:srgbClr val="F59E0B"/>
          </a:solidFill>
          <a:ln/>
        </p:spPr>
        <p:txBody>
          <a:bodyPr/>
          <a:p/>
        </p:txBody>
      </p:sp>
      <p:sp>
        <p:nvSpPr>
          <p:cNvPr id="27" name="Text 25"/>
          <p:cNvSpPr/>
          <p:nvPr/>
        </p:nvSpPr>
        <p:spPr>
          <a:xfrm>
            <a:off x="804672" y="4352544"/>
            <a:ext cx="5029200" cy="310896"/>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Categories</a:t>
            </a:r>
            <a:endParaRPr lang="en-US" sz="1450" dirty="0"/>
          </a:p>
        </p:txBody>
      </p:sp>
      <p:sp>
        <p:nvSpPr>
          <p:cNvPr id="28" name="Text 26"/>
          <p:cNvSpPr/>
          <p:nvPr/>
        </p:nvSpPr>
        <p:spPr>
          <a:xfrm>
            <a:off x="804672" y="4663440"/>
            <a:ext cx="5120640" cy="402336"/>
          </a:xfrm>
          <a:prstGeom prst="rect">
            <a:avLst/>
          </a:prstGeom>
          <a:noFill/>
          <a:ln/>
        </p:spPr>
        <p:txBody>
          <a:bodyPr wrap="square" lIns="0" tIns="0" rIns="0" bIns="0" rtlCol="0" anchor="ctr"/>
          <a:lstStyle/>
          <a:p>
            <a:pPr indent="0" marL="0">
              <a:buNone/>
            </a:pPr>
            <a:r>
              <a:rPr lang="en-US" sz="1100" dirty="0">
                <a:solidFill>
                  <a:srgbClr val="64748B"/>
                </a:solidFill>
                <a:latin typeface="Consolas" pitchFamily="34" charset="0"/>
                <a:ea typeface="Consolas" pitchFamily="34" charset="-122"/>
                <a:cs typeface="Consolas" pitchFamily="34" charset="-120"/>
              </a:rPr>
              <a:t>Technology / technology / Tech  |  NE / N.E. / North East</a:t>
            </a:r>
            <a:endParaRPr lang="en-US" sz="1100" dirty="0"/>
          </a:p>
        </p:txBody>
      </p:sp>
      <p:sp>
        <p:nvSpPr>
          <p:cNvPr id="29" name="Shape 27"/>
          <p:cNvSpPr/>
          <p:nvPr/>
        </p:nvSpPr>
        <p:spPr>
          <a:xfrm>
            <a:off x="6263640" y="4242816"/>
            <a:ext cx="5486400" cy="896112"/>
          </a:xfrm>
          <a:prstGeom prst="roundRect">
            <a:avLst>
              <a:gd name="adj" fmla="val 8163"/>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30" name="Shape 28"/>
          <p:cNvSpPr/>
          <p:nvPr/>
        </p:nvSpPr>
        <p:spPr>
          <a:xfrm>
            <a:off x="6263640" y="4242816"/>
            <a:ext cx="82296" cy="896112"/>
          </a:xfrm>
          <a:prstGeom prst="rect">
            <a:avLst/>
          </a:prstGeom>
          <a:solidFill>
            <a:srgbClr val="F59E0B"/>
          </a:solidFill>
          <a:ln/>
        </p:spPr>
        <p:txBody>
          <a:bodyPr/>
          <a:p/>
        </p:txBody>
      </p:sp>
      <p:sp>
        <p:nvSpPr>
          <p:cNvPr id="31" name="Text 29"/>
          <p:cNvSpPr/>
          <p:nvPr/>
        </p:nvSpPr>
        <p:spPr>
          <a:xfrm>
            <a:off x="6519672" y="4352544"/>
            <a:ext cx="5029200" cy="310896"/>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Stray symbols</a:t>
            </a:r>
            <a:endParaRPr lang="en-US" sz="1450" dirty="0"/>
          </a:p>
        </p:txBody>
      </p:sp>
      <p:sp>
        <p:nvSpPr>
          <p:cNvPr id="32" name="Text 30"/>
          <p:cNvSpPr/>
          <p:nvPr/>
        </p:nvSpPr>
        <p:spPr>
          <a:xfrm>
            <a:off x="6519672" y="4663440"/>
            <a:ext cx="5120640" cy="402336"/>
          </a:xfrm>
          <a:prstGeom prst="rect">
            <a:avLst/>
          </a:prstGeom>
          <a:noFill/>
          <a:ln/>
        </p:spPr>
        <p:txBody>
          <a:bodyPr wrap="square" lIns="0" tIns="0" rIns="0" bIns="0" rtlCol="0" anchor="ctr"/>
          <a:lstStyle/>
          <a:p>
            <a:pPr indent="0" marL="0">
              <a:buNone/>
            </a:pPr>
            <a:r>
              <a:rPr lang="en-US" sz="1100" dirty="0">
                <a:solidFill>
                  <a:srgbClr val="64748B"/>
                </a:solidFill>
                <a:latin typeface="Consolas" pitchFamily="34" charset="0"/>
                <a:ea typeface="Consolas" pitchFamily="34" charset="-122"/>
                <a:cs typeface="Consolas" pitchFamily="34" charset="-120"/>
              </a:rPr>
              <a:t>$1440.00 mixed with plain 600 in the Revenue column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417320"/>
          </a:xfrm>
          <a:prstGeom prst="rect">
            <a:avLst/>
          </a:prstGeom>
          <a:solidFill>
            <a:srgbClr val="FFFFFF"/>
          </a:solidFill>
          <a:ln/>
        </p:spPr>
        <p:txBody>
          <a:bodyPr/>
          <a:p/>
        </p:txBody>
      </p:sp>
      <p:sp>
        <p:nvSpPr>
          <p:cNvPr id="3" name="Shape 1"/>
          <p:cNvSpPr/>
          <p:nvPr/>
        </p:nvSpPr>
        <p:spPr>
          <a:xfrm>
            <a:off x="0" y="1417320"/>
            <a:ext cx="12161520" cy="45720"/>
          </a:xfrm>
          <a:prstGeom prst="rect">
            <a:avLst/>
          </a:prstGeom>
          <a:solidFill>
            <a:srgbClr val="0D9488"/>
          </a:solidFill>
          <a:ln/>
        </p:spPr>
        <p:txBody>
          <a:bodyPr/>
          <a:p/>
        </p:txBody>
      </p:sp>
      <p:sp>
        <p:nvSpPr>
          <p:cNvPr id="4" name="Text 2"/>
          <p:cNvSpPr/>
          <p:nvPr/>
        </p:nvSpPr>
        <p:spPr>
          <a:xfrm>
            <a:off x="548640" y="365760"/>
            <a:ext cx="86868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EXERCISE 1 - DO IT TOGETHER</a:t>
            </a:r>
            <a:endParaRPr lang="en-US" sz="1200" dirty="0"/>
          </a:p>
        </p:txBody>
      </p:sp>
      <p:sp>
        <p:nvSpPr>
          <p:cNvPr id="5" name="Text 3"/>
          <p:cNvSpPr/>
          <p:nvPr/>
        </p:nvSpPr>
        <p:spPr>
          <a:xfrm>
            <a:off x="548640" y="658368"/>
            <a:ext cx="9326880" cy="73152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One prompt that names the outcome</a:t>
            </a:r>
            <a:endParaRPr lang="en-US" sz="2700" dirty="0"/>
          </a:p>
        </p:txBody>
      </p:sp>
      <p:sp>
        <p:nvSpPr>
          <p:cNvPr id="6" name="Shape 4"/>
          <p:cNvSpPr/>
          <p:nvPr/>
        </p:nvSpPr>
        <p:spPr>
          <a:xfrm>
            <a:off x="9921240" y="384048"/>
            <a:ext cx="1783080" cy="457200"/>
          </a:xfrm>
          <a:prstGeom prst="roundRect">
            <a:avLst>
              <a:gd name="adj" fmla="val 50000"/>
            </a:avLst>
          </a:prstGeom>
          <a:solidFill>
            <a:srgbClr val="E6F4F2"/>
          </a:solidFill>
          <a:ln/>
        </p:spPr>
        <p:txBody>
          <a:bodyPr/>
          <a:p/>
        </p:txBody>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15-21 min</a:t>
            </a:r>
            <a:endParaRPr lang="en-US" sz="1200" dirty="0"/>
          </a:p>
        </p:txBody>
      </p:sp>
      <p:sp>
        <p:nvSpPr>
          <p:cNvPr id="8" name="Text 6"/>
          <p:cNvSpPr/>
          <p:nvPr/>
        </p:nvSpPr>
        <p:spPr>
          <a:xfrm>
            <a:off x="548640" y="1627632"/>
            <a:ext cx="10972800" cy="292608"/>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Paste your data into ChatGPT, then this prompt:</a:t>
            </a:r>
            <a:endParaRPr lang="en-US" sz="1400" dirty="0"/>
          </a:p>
        </p:txBody>
      </p:sp>
      <p:sp>
        <p:nvSpPr>
          <p:cNvPr id="9" name="Shape 7"/>
          <p:cNvSpPr/>
          <p:nvPr/>
        </p:nvSpPr>
        <p:spPr>
          <a:xfrm>
            <a:off x="548640" y="1993392"/>
            <a:ext cx="11064240" cy="2971800"/>
          </a:xfrm>
          <a:prstGeom prst="roundRect">
            <a:avLst>
              <a:gd name="adj" fmla="val 3077"/>
            </a:avLst>
          </a:prstGeom>
          <a:solidFill>
            <a:srgbClr val="1E293B"/>
          </a:solidFill>
          <a:ln/>
          <a:effectLst>
            <a:outerShdw sx="100000" sy="100000" kx="0" ky="0" algn="bl" rotWithShape="0" blurRad="88900" dist="38100" dir="8100000">
              <a:srgbClr val="000000">
                <a:alpha val="12000"/>
              </a:srgbClr>
            </a:outerShdw>
          </a:effectLst>
        </p:spPr>
        <p:txBody>
          <a:bodyPr/>
          <a:p/>
        </p:txBody>
      </p:sp>
      <p:sp>
        <p:nvSpPr>
          <p:cNvPr id="10" name="Shape 8"/>
          <p:cNvSpPr/>
          <p:nvPr/>
        </p:nvSpPr>
        <p:spPr>
          <a:xfrm>
            <a:off x="548640" y="1993392"/>
            <a:ext cx="109728" cy="2971800"/>
          </a:xfrm>
          <a:prstGeom prst="rect">
            <a:avLst/>
          </a:prstGeom>
          <a:solidFill>
            <a:srgbClr val="0D9488"/>
          </a:solidFill>
          <a:ln/>
        </p:spPr>
        <p:txBody>
          <a:bodyPr/>
          <a:p/>
        </p:txBody>
      </p:sp>
      <p:sp>
        <p:nvSpPr>
          <p:cNvPr id="11" name="Text 9"/>
          <p:cNvSpPr/>
          <p:nvPr/>
        </p:nvSpPr>
        <p:spPr>
          <a:xfrm>
            <a:off x="868680" y="2157984"/>
            <a:ext cx="10515600" cy="2651760"/>
          </a:xfrm>
          <a:prstGeom prst="rect">
            <a:avLst/>
          </a:prstGeom>
          <a:noFill/>
          <a:ln/>
        </p:spPr>
        <p:txBody>
          <a:bodyPr wrap="square" lIns="0" tIns="0" rIns="0" bIns="0" rtlCol="0" anchor="ctr"/>
          <a:lstStyle/>
          <a:p>
            <a:pPr indent="0" marL="0">
              <a:lnSpc>
                <a:spcPct val="105000"/>
              </a:lnSpc>
              <a:buNone/>
            </a:pPr>
            <a:r>
              <a:rPr lang="en-US" sz="1200" dirty="0">
                <a:solidFill>
                  <a:srgbClr val="F1F5F9"/>
                </a:solidFill>
                <a:latin typeface="Consolas" pitchFamily="34" charset="0"/>
                <a:ea typeface="Consolas" pitchFamily="34" charset="-122"/>
                <a:cs typeface="Consolas" pitchFamily="34" charset="-120"/>
              </a:rPr>
              <a:t>Clean up this messy sales data and give me back one tidy table.
</a:t>
            </a:r>
            <a:endParaRPr lang="en-US" sz="1200" dirty="0"/>
          </a:p>
          <a:p>
            <a:pPr indent="0" marL="0">
              <a:lnSpc>
                <a:spcPct val="105000"/>
              </a:lnSpc>
              <a:buNone/>
            </a:pPr>
            <a:r>
              <a:rPr lang="en-US" sz="1200" dirty="0">
                <a:solidFill>
                  <a:srgbClr val="F1F5F9"/>
                </a:solidFill>
                <a:latin typeface="Consolas" pitchFamily="34" charset="0"/>
                <a:ea typeface="Consolas" pitchFamily="34" charset="-122"/>
                <a:cs typeface="Consolas" pitchFamily="34" charset="-120"/>
              </a:rPr>
              <a:t>1. Make every date look the same: YYYY-MM-DD (year-month-day).
</a:t>
            </a:r>
            <a:endParaRPr lang="en-US" sz="1200" dirty="0"/>
          </a:p>
          <a:p>
            <a:pPr indent="0" marL="0">
              <a:lnSpc>
                <a:spcPct val="105000"/>
              </a:lnSpc>
              <a:buNone/>
            </a:pPr>
            <a:r>
              <a:rPr lang="en-US" sz="1200" dirty="0">
                <a:solidFill>
                  <a:srgbClr val="F1F5F9"/>
                </a:solidFill>
                <a:latin typeface="Consolas" pitchFamily="34" charset="0"/>
                <a:ea typeface="Consolas" pitchFamily="34" charset="-122"/>
                <a:cs typeface="Consolas" pitchFamily="34" charset="-120"/>
              </a:rPr>
              <a:t>2. Tidy the Customer names: remove extra spaces, use the same capitalization.
</a:t>
            </a:r>
            <a:endParaRPr lang="en-US" sz="1200" dirty="0"/>
          </a:p>
          <a:p>
            <a:pPr indent="0" marL="0">
              <a:lnSpc>
                <a:spcPct val="105000"/>
              </a:lnSpc>
              <a:buNone/>
            </a:pPr>
            <a:r>
              <a:rPr lang="en-US" sz="1200" dirty="0">
                <a:solidFill>
                  <a:srgbClr val="F1F5F9"/>
                </a:solidFill>
                <a:latin typeface="Consolas" pitchFamily="34" charset="0"/>
                <a:ea typeface="Consolas" pitchFamily="34" charset="-122"/>
                <a:cs typeface="Consolas" pitchFamily="34" charset="-120"/>
              </a:rPr>
              <a:t>3. Use only these categories: Office Supplies, Furniture, Technology.
</a:t>
            </a:r>
            <a:endParaRPr lang="en-US" sz="1200" dirty="0"/>
          </a:p>
          <a:p>
            <a:pPr indent="0" marL="0">
              <a:lnSpc>
                <a:spcPct val="105000"/>
              </a:lnSpc>
              <a:buNone/>
            </a:pPr>
            <a:r>
              <a:rPr lang="en-US" sz="1200" dirty="0">
                <a:solidFill>
                  <a:srgbClr val="F1F5F9"/>
                </a:solidFill>
                <a:latin typeface="Consolas" pitchFamily="34" charset="0"/>
                <a:ea typeface="Consolas" pitchFamily="34" charset="-122"/>
                <a:cs typeface="Consolas" pitchFamily="34" charset="-120"/>
              </a:rPr>
              <a:t>4. Use one spelling per region: Northeast, Midwest, West, South.
</a:t>
            </a:r>
            <a:endParaRPr lang="en-US" sz="1200" dirty="0"/>
          </a:p>
          <a:p>
            <a:pPr indent="0" marL="0">
              <a:lnSpc>
                <a:spcPct val="105000"/>
              </a:lnSpc>
              <a:buNone/>
            </a:pPr>
            <a:r>
              <a:rPr lang="en-US" sz="1200" dirty="0">
                <a:solidFill>
                  <a:srgbClr val="F1F5F9"/>
                </a:solidFill>
                <a:latin typeface="Consolas" pitchFamily="34" charset="0"/>
                <a:ea typeface="Consolas" pitchFamily="34" charset="-122"/>
                <a:cs typeface="Consolas" pitchFamily="34" charset="-120"/>
              </a:rPr>
              <a:t>5. Take the $ signs and commas out of Revenue so it's just a number.
</a:t>
            </a:r>
            <a:endParaRPr lang="en-US" sz="1200" dirty="0"/>
          </a:p>
          <a:p>
            <a:pPr indent="0" marL="0">
              <a:lnSpc>
                <a:spcPct val="105000"/>
              </a:lnSpc>
              <a:buNone/>
            </a:pPr>
            <a:r>
              <a:rPr lang="en-US" sz="1200" dirty="0">
                <a:solidFill>
                  <a:srgbClr val="F1F5F9"/>
                </a:solidFill>
                <a:latin typeface="Consolas" pitchFamily="34" charset="0"/>
                <a:ea typeface="Consolas" pitchFamily="34" charset="-122"/>
                <a:cs typeface="Consolas" pitchFamily="34" charset="-120"/>
              </a:rPr>
              <a:t>6. Leave blank cells blank - do NOT guess. List the blanks in a 'Notes' column.
</a:t>
            </a:r>
            <a:endParaRPr lang="en-US" sz="1200" dirty="0"/>
          </a:p>
          <a:p>
            <a:pPr indent="0" marL="0">
              <a:lnSpc>
                <a:spcPct val="105000"/>
              </a:lnSpc>
              <a:buNone/>
            </a:pPr>
            <a:r>
              <a:rPr lang="en-US" sz="1200" dirty="0">
                <a:solidFill>
                  <a:srgbClr val="F1F5F9"/>
                </a:solidFill>
                <a:latin typeface="Consolas" pitchFamily="34" charset="0"/>
                <a:ea typeface="Consolas" pitchFamily="34" charset="-122"/>
                <a:cs typeface="Consolas" pitchFamily="34" charset="-120"/>
              </a:rPr>
              <a:t>Tell me anything you had to assume at the end.</a:t>
            </a:r>
            <a:endParaRPr lang="en-US" sz="1200" dirty="0"/>
          </a:p>
        </p:txBody>
      </p:sp>
      <p:sp>
        <p:nvSpPr>
          <p:cNvPr id="12" name="Shape 10"/>
          <p:cNvSpPr/>
          <p:nvPr/>
        </p:nvSpPr>
        <p:spPr>
          <a:xfrm>
            <a:off x="548640" y="5193792"/>
            <a:ext cx="11064240" cy="1005840"/>
          </a:xfrm>
          <a:prstGeom prst="roundRect">
            <a:avLst>
              <a:gd name="adj" fmla="val 7273"/>
            </a:avLst>
          </a:prstGeom>
          <a:solidFill>
            <a:srgbClr val="E7F4EC"/>
          </a:solidFill>
          <a:ln w="12700">
            <a:solidFill>
              <a:srgbClr val="0D9488"/>
            </a:solidFill>
            <a:prstDash val="solid"/>
          </a:ln>
        </p:spPr>
        <p:txBody>
          <a:bodyPr/>
          <a:p/>
        </p:txBody>
      </p:sp>
      <p:sp>
        <p:nvSpPr>
          <p:cNvPr id="13" name="Text 11"/>
          <p:cNvSpPr/>
          <p:nvPr/>
        </p:nvSpPr>
        <p:spPr>
          <a:xfrm>
            <a:off x="777240" y="5285232"/>
            <a:ext cx="10607040" cy="82296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 xml:space="preserve">Why it works:  </a:t>
            </a:r>
            <a:pPr indent="0" marL="0">
              <a:buNone/>
            </a:pPr>
            <a:r>
              <a:rPr lang="en-US" sz="1300" dirty="0">
                <a:solidFill>
                  <a:srgbClr val="1E293B"/>
                </a:solidFill>
                <a:latin typeface="Calibri" pitchFamily="34" charset="0"/>
                <a:ea typeface="Calibri" pitchFamily="34" charset="-122"/>
                <a:cs typeface="Calibri" pitchFamily="34" charset="-120"/>
              </a:rPr>
              <a:t>it names the exact target for each problem, forbids guessing on blanks, and asks AI to surface its assumptions - so you can verify instead of trust.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417320"/>
          </a:xfrm>
          <a:prstGeom prst="rect">
            <a:avLst/>
          </a:prstGeom>
          <a:solidFill>
            <a:srgbClr val="FFFFFF"/>
          </a:solidFill>
          <a:ln/>
        </p:spPr>
        <p:txBody>
          <a:bodyPr/>
          <a:p/>
        </p:txBody>
      </p:sp>
      <p:sp>
        <p:nvSpPr>
          <p:cNvPr id="3" name="Shape 1"/>
          <p:cNvSpPr/>
          <p:nvPr/>
        </p:nvSpPr>
        <p:spPr>
          <a:xfrm>
            <a:off x="0" y="1417320"/>
            <a:ext cx="12161520" cy="45720"/>
          </a:xfrm>
          <a:prstGeom prst="rect">
            <a:avLst/>
          </a:prstGeom>
          <a:solidFill>
            <a:srgbClr val="0D9488"/>
          </a:solidFill>
          <a:ln/>
        </p:spPr>
        <p:txBody>
          <a:bodyPr/>
          <a:p/>
        </p:txBody>
      </p:sp>
      <p:sp>
        <p:nvSpPr>
          <p:cNvPr id="4" name="Text 2"/>
          <p:cNvSpPr/>
          <p:nvPr/>
        </p:nvSpPr>
        <p:spPr>
          <a:xfrm>
            <a:off x="548640" y="365760"/>
            <a:ext cx="86868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EXERCISE 1 - VERIFY</a:t>
            </a:r>
            <a:endParaRPr lang="en-US" sz="1200" dirty="0"/>
          </a:p>
        </p:txBody>
      </p:sp>
      <p:sp>
        <p:nvSpPr>
          <p:cNvPr id="5" name="Text 3"/>
          <p:cNvSpPr/>
          <p:nvPr/>
        </p:nvSpPr>
        <p:spPr>
          <a:xfrm>
            <a:off x="548640" y="658368"/>
            <a:ext cx="9326880" cy="73152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Never ship what you didn't check</a:t>
            </a:r>
            <a:endParaRPr lang="en-US" sz="2700" dirty="0"/>
          </a:p>
        </p:txBody>
      </p:sp>
      <p:sp>
        <p:nvSpPr>
          <p:cNvPr id="6" name="Shape 4"/>
          <p:cNvSpPr/>
          <p:nvPr/>
        </p:nvSpPr>
        <p:spPr>
          <a:xfrm>
            <a:off x="9921240" y="384048"/>
            <a:ext cx="1783080" cy="457200"/>
          </a:xfrm>
          <a:prstGeom prst="roundRect">
            <a:avLst>
              <a:gd name="adj" fmla="val 50000"/>
            </a:avLst>
          </a:prstGeom>
          <a:solidFill>
            <a:srgbClr val="E6F4F2"/>
          </a:solidFill>
          <a:ln/>
        </p:spPr>
        <p:txBody>
          <a:bodyPr/>
          <a:p/>
        </p:txBody>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21-24 min</a:t>
            </a:r>
            <a:endParaRPr lang="en-US" sz="1200" dirty="0"/>
          </a:p>
        </p:txBody>
      </p:sp>
      <p:sp>
        <p:nvSpPr>
          <p:cNvPr id="8" name="Shape 6"/>
          <p:cNvSpPr/>
          <p:nvPr/>
        </p:nvSpPr>
        <p:spPr>
          <a:xfrm>
            <a:off x="548640" y="1920240"/>
            <a:ext cx="11064240" cy="868680"/>
          </a:xfrm>
          <a:prstGeom prst="roundRect">
            <a:avLst>
              <a:gd name="adj" fmla="val 8421"/>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9" name="Shape 7"/>
          <p:cNvSpPr/>
          <p:nvPr/>
        </p:nvSpPr>
        <p:spPr>
          <a:xfrm>
            <a:off x="777240" y="2148840"/>
            <a:ext cx="411480" cy="411480"/>
          </a:xfrm>
          <a:prstGeom prst="ellipse">
            <a:avLst/>
          </a:prstGeom>
          <a:solidFill>
            <a:srgbClr val="0D9488"/>
          </a:solidFill>
          <a:ln/>
        </p:spPr>
        <p:txBody>
          <a:bodyPr/>
          <a:p/>
        </p:txBody>
      </p:sp>
      <p:sp>
        <p:nvSpPr>
          <p:cNvPr id="10" name="Text 8"/>
          <p:cNvSpPr/>
          <p:nvPr/>
        </p:nvSpPr>
        <p:spPr>
          <a:xfrm>
            <a:off x="777240" y="21488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a:t>
            </a:r>
            <a:endParaRPr lang="en-US" sz="1600" dirty="0"/>
          </a:p>
        </p:txBody>
      </p:sp>
      <p:sp>
        <p:nvSpPr>
          <p:cNvPr id="11" name="Text 9"/>
          <p:cNvSpPr/>
          <p:nvPr/>
        </p:nvSpPr>
        <p:spPr>
          <a:xfrm>
            <a:off x="1417320" y="2039112"/>
            <a:ext cx="2926080" cy="640080"/>
          </a:xfrm>
          <a:prstGeom prst="rect">
            <a:avLst/>
          </a:prstGeom>
          <a:noFill/>
          <a:ln/>
        </p:spPr>
        <p:txBody>
          <a:bodyPr wrap="square" lIns="0" tIns="0" rIns="0" bIns="0" rtlCol="0" anchor="ctr"/>
          <a:lstStyle/>
          <a:p>
            <a:pPr indent="0" marL="0">
              <a:buNone/>
            </a:pPr>
            <a:r>
              <a:rPr lang="en-US" sz="1550" b="1" dirty="0">
                <a:solidFill>
                  <a:srgbClr val="1E293B"/>
                </a:solidFill>
                <a:latin typeface="Calibri" pitchFamily="34" charset="0"/>
                <a:ea typeface="Calibri" pitchFamily="34" charset="-122"/>
                <a:cs typeface="Calibri" pitchFamily="34" charset="-120"/>
              </a:rPr>
              <a:t>Row count</a:t>
            </a:r>
            <a:endParaRPr lang="en-US" sz="1550" dirty="0"/>
          </a:p>
        </p:txBody>
      </p:sp>
      <p:sp>
        <p:nvSpPr>
          <p:cNvPr id="12" name="Text 10"/>
          <p:cNvSpPr/>
          <p:nvPr/>
        </p:nvSpPr>
        <p:spPr>
          <a:xfrm>
            <a:off x="4389120" y="2039112"/>
            <a:ext cx="7040880" cy="64008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Still 15 rows in, 15 out? AI sometimes silently drops rows.</a:t>
            </a:r>
            <a:endParaRPr lang="en-US" sz="1350" dirty="0"/>
          </a:p>
        </p:txBody>
      </p:sp>
      <p:sp>
        <p:nvSpPr>
          <p:cNvPr id="13" name="Shape 11"/>
          <p:cNvSpPr/>
          <p:nvPr/>
        </p:nvSpPr>
        <p:spPr>
          <a:xfrm>
            <a:off x="548640" y="2880360"/>
            <a:ext cx="11064240" cy="868680"/>
          </a:xfrm>
          <a:prstGeom prst="roundRect">
            <a:avLst>
              <a:gd name="adj" fmla="val 8421"/>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14" name="Shape 12"/>
          <p:cNvSpPr/>
          <p:nvPr/>
        </p:nvSpPr>
        <p:spPr>
          <a:xfrm>
            <a:off x="777240" y="3108960"/>
            <a:ext cx="411480" cy="411480"/>
          </a:xfrm>
          <a:prstGeom prst="ellipse">
            <a:avLst/>
          </a:prstGeom>
          <a:solidFill>
            <a:srgbClr val="0D9488"/>
          </a:solidFill>
          <a:ln/>
        </p:spPr>
        <p:txBody>
          <a:bodyPr/>
          <a:p/>
        </p:txBody>
      </p:sp>
      <p:sp>
        <p:nvSpPr>
          <p:cNvPr id="15" name="Text 13"/>
          <p:cNvSpPr/>
          <p:nvPr/>
        </p:nvSpPr>
        <p:spPr>
          <a:xfrm>
            <a:off x="777240" y="31089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a:t>
            </a:r>
            <a:endParaRPr lang="en-US" sz="1600" dirty="0"/>
          </a:p>
        </p:txBody>
      </p:sp>
      <p:sp>
        <p:nvSpPr>
          <p:cNvPr id="16" name="Text 14"/>
          <p:cNvSpPr/>
          <p:nvPr/>
        </p:nvSpPr>
        <p:spPr>
          <a:xfrm>
            <a:off x="1417320" y="2999232"/>
            <a:ext cx="2926080" cy="640080"/>
          </a:xfrm>
          <a:prstGeom prst="rect">
            <a:avLst/>
          </a:prstGeom>
          <a:noFill/>
          <a:ln/>
        </p:spPr>
        <p:txBody>
          <a:bodyPr wrap="square" lIns="0" tIns="0" rIns="0" bIns="0" rtlCol="0" anchor="ctr"/>
          <a:lstStyle/>
          <a:p>
            <a:pPr indent="0" marL="0">
              <a:buNone/>
            </a:pPr>
            <a:r>
              <a:rPr lang="en-US" sz="1550" b="1" dirty="0">
                <a:solidFill>
                  <a:srgbClr val="1E293B"/>
                </a:solidFill>
                <a:latin typeface="Calibri" pitchFamily="34" charset="0"/>
                <a:ea typeface="Calibri" pitchFamily="34" charset="-122"/>
                <a:cs typeface="Calibri" pitchFamily="34" charset="-120"/>
              </a:rPr>
              <a:t>Totals tie</a:t>
            </a:r>
            <a:endParaRPr lang="en-US" sz="1550" dirty="0"/>
          </a:p>
        </p:txBody>
      </p:sp>
      <p:sp>
        <p:nvSpPr>
          <p:cNvPr id="17" name="Text 15"/>
          <p:cNvSpPr/>
          <p:nvPr/>
        </p:nvSpPr>
        <p:spPr>
          <a:xfrm>
            <a:off x="4389120" y="2999232"/>
            <a:ext cx="7040880" cy="64008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Sum the Revenue column - does it match the source?</a:t>
            </a:r>
            <a:endParaRPr lang="en-US" sz="1350" dirty="0"/>
          </a:p>
        </p:txBody>
      </p:sp>
      <p:sp>
        <p:nvSpPr>
          <p:cNvPr id="18" name="Shape 16"/>
          <p:cNvSpPr/>
          <p:nvPr/>
        </p:nvSpPr>
        <p:spPr>
          <a:xfrm>
            <a:off x="548640" y="3840480"/>
            <a:ext cx="11064240" cy="868680"/>
          </a:xfrm>
          <a:prstGeom prst="roundRect">
            <a:avLst>
              <a:gd name="adj" fmla="val 8421"/>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19" name="Shape 17"/>
          <p:cNvSpPr/>
          <p:nvPr/>
        </p:nvSpPr>
        <p:spPr>
          <a:xfrm>
            <a:off x="777240" y="4069080"/>
            <a:ext cx="411480" cy="411480"/>
          </a:xfrm>
          <a:prstGeom prst="ellipse">
            <a:avLst/>
          </a:prstGeom>
          <a:solidFill>
            <a:srgbClr val="0D9488"/>
          </a:solidFill>
          <a:ln/>
        </p:spPr>
        <p:txBody>
          <a:bodyPr/>
          <a:p/>
        </p:txBody>
      </p:sp>
      <p:sp>
        <p:nvSpPr>
          <p:cNvPr id="20" name="Text 18"/>
          <p:cNvSpPr/>
          <p:nvPr/>
        </p:nvSpPr>
        <p:spPr>
          <a:xfrm>
            <a:off x="777240" y="40690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a:t>
            </a:r>
            <a:endParaRPr lang="en-US" sz="1600" dirty="0"/>
          </a:p>
        </p:txBody>
      </p:sp>
      <p:sp>
        <p:nvSpPr>
          <p:cNvPr id="21" name="Text 19"/>
          <p:cNvSpPr/>
          <p:nvPr/>
        </p:nvSpPr>
        <p:spPr>
          <a:xfrm>
            <a:off x="1417320" y="3959352"/>
            <a:ext cx="2926080" cy="640080"/>
          </a:xfrm>
          <a:prstGeom prst="rect">
            <a:avLst/>
          </a:prstGeom>
          <a:noFill/>
          <a:ln/>
        </p:spPr>
        <p:txBody>
          <a:bodyPr wrap="square" lIns="0" tIns="0" rIns="0" bIns="0" rtlCol="0" anchor="ctr"/>
          <a:lstStyle/>
          <a:p>
            <a:pPr indent="0" marL="0">
              <a:buNone/>
            </a:pPr>
            <a:r>
              <a:rPr lang="en-US" sz="1550" b="1" dirty="0">
                <a:solidFill>
                  <a:srgbClr val="1E293B"/>
                </a:solidFill>
                <a:latin typeface="Calibri" pitchFamily="34" charset="0"/>
                <a:ea typeface="Calibri" pitchFamily="34" charset="-122"/>
                <a:cs typeface="Calibri" pitchFamily="34" charset="-120"/>
              </a:rPr>
              <a:t>Blanks untouched</a:t>
            </a:r>
            <a:endParaRPr lang="en-US" sz="1550" dirty="0"/>
          </a:p>
        </p:txBody>
      </p:sp>
      <p:sp>
        <p:nvSpPr>
          <p:cNvPr id="22" name="Text 20"/>
          <p:cNvSpPr/>
          <p:nvPr/>
        </p:nvSpPr>
        <p:spPr>
          <a:xfrm>
            <a:off x="4389120" y="3959352"/>
            <a:ext cx="7040880" cy="64008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The 3 blank cells are still blank &amp; flagged, not invented.</a:t>
            </a:r>
            <a:endParaRPr lang="en-US" sz="1350" dirty="0"/>
          </a:p>
        </p:txBody>
      </p:sp>
      <p:sp>
        <p:nvSpPr>
          <p:cNvPr id="23" name="Shape 21"/>
          <p:cNvSpPr/>
          <p:nvPr/>
        </p:nvSpPr>
        <p:spPr>
          <a:xfrm>
            <a:off x="548640" y="4800600"/>
            <a:ext cx="11064240" cy="868680"/>
          </a:xfrm>
          <a:prstGeom prst="roundRect">
            <a:avLst>
              <a:gd name="adj" fmla="val 8421"/>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24" name="Shape 22"/>
          <p:cNvSpPr/>
          <p:nvPr/>
        </p:nvSpPr>
        <p:spPr>
          <a:xfrm>
            <a:off x="777240" y="5029200"/>
            <a:ext cx="411480" cy="411480"/>
          </a:xfrm>
          <a:prstGeom prst="ellipse">
            <a:avLst/>
          </a:prstGeom>
          <a:solidFill>
            <a:srgbClr val="0D9488"/>
          </a:solidFill>
          <a:ln/>
        </p:spPr>
        <p:txBody>
          <a:bodyPr/>
          <a:p/>
        </p:txBody>
      </p:sp>
      <p:sp>
        <p:nvSpPr>
          <p:cNvPr id="25" name="Text 23"/>
          <p:cNvSpPr/>
          <p:nvPr/>
        </p:nvSpPr>
        <p:spPr>
          <a:xfrm>
            <a:off x="777240" y="50292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a:t>
            </a:r>
            <a:endParaRPr lang="en-US" sz="1600" dirty="0"/>
          </a:p>
        </p:txBody>
      </p:sp>
      <p:sp>
        <p:nvSpPr>
          <p:cNvPr id="26" name="Text 24"/>
          <p:cNvSpPr/>
          <p:nvPr/>
        </p:nvSpPr>
        <p:spPr>
          <a:xfrm>
            <a:off x="1417320" y="4919472"/>
            <a:ext cx="2926080" cy="640080"/>
          </a:xfrm>
          <a:prstGeom prst="rect">
            <a:avLst/>
          </a:prstGeom>
          <a:noFill/>
          <a:ln/>
        </p:spPr>
        <p:txBody>
          <a:bodyPr wrap="square" lIns="0" tIns="0" rIns="0" bIns="0" rtlCol="0" anchor="ctr"/>
          <a:lstStyle/>
          <a:p>
            <a:pPr indent="0" marL="0">
              <a:buNone/>
            </a:pPr>
            <a:r>
              <a:rPr lang="en-US" sz="1550" b="1" dirty="0">
                <a:solidFill>
                  <a:srgbClr val="1E293B"/>
                </a:solidFill>
                <a:latin typeface="Calibri" pitchFamily="34" charset="0"/>
                <a:ea typeface="Calibri" pitchFamily="34" charset="-122"/>
                <a:cs typeface="Calibri" pitchFamily="34" charset="-120"/>
              </a:rPr>
              <a:t>Categories</a:t>
            </a:r>
            <a:endParaRPr lang="en-US" sz="1550" dirty="0"/>
          </a:p>
        </p:txBody>
      </p:sp>
      <p:sp>
        <p:nvSpPr>
          <p:cNvPr id="27" name="Text 25"/>
          <p:cNvSpPr/>
          <p:nvPr/>
        </p:nvSpPr>
        <p:spPr>
          <a:xfrm>
            <a:off x="4389120" y="4919472"/>
            <a:ext cx="7040880" cy="64008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Exactly three categories and four regions - no strays left.</a:t>
            </a:r>
            <a:endParaRPr lang="en-US" sz="1350" dirty="0"/>
          </a:p>
        </p:txBody>
      </p:sp>
      <p:sp>
        <p:nvSpPr>
          <p:cNvPr id="28" name="Text 26"/>
          <p:cNvSpPr/>
          <p:nvPr/>
        </p:nvSpPr>
        <p:spPr>
          <a:xfrm>
            <a:off x="548640" y="5897880"/>
            <a:ext cx="10972800" cy="365760"/>
          </a:xfrm>
          <a:prstGeom prst="rect">
            <a:avLst/>
          </a:prstGeom>
          <a:noFill/>
          <a:ln/>
        </p:spPr>
        <p:txBody>
          <a:bodyPr wrap="square" lIns="0" tIns="0" rIns="0" bIns="0" rtlCol="0" anchor="ctr"/>
          <a:lstStyle/>
          <a:p>
            <a:pPr indent="0" marL="0">
              <a:buNone/>
            </a:pPr>
            <a:r>
              <a:rPr lang="en-US" sz="1400" b="1" i="1" dirty="0">
                <a:solidFill>
                  <a:srgbClr val="F59E0B"/>
                </a:solidFill>
                <a:latin typeface="Calibri" pitchFamily="34" charset="0"/>
                <a:ea typeface="Calibri" pitchFamily="34" charset="-122"/>
                <a:cs typeface="Calibri" pitchFamily="34" charset="-120"/>
              </a:rPr>
              <a:t>Rule: a 30-second check beats a wrong number in front of your boss.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D9488"/>
          </a:solidFill>
          <a:ln/>
        </p:spPr>
        <p:txBody>
          <a:bodyPr/>
          <a:p/>
        </p:txBody>
      </p:sp>
      <p:sp>
        <p:nvSpPr>
          <p:cNvPr id="3" name="Text 1"/>
          <p:cNvSpPr/>
          <p:nvPr/>
        </p:nvSpPr>
        <p:spPr>
          <a:xfrm>
            <a:off x="822960" y="1554480"/>
            <a:ext cx="2743200" cy="1463040"/>
          </a:xfrm>
          <a:prstGeom prst="rect">
            <a:avLst/>
          </a:prstGeom>
          <a:noFill/>
          <a:ln/>
        </p:spPr>
        <p:txBody>
          <a:bodyPr wrap="square" lIns="0" tIns="0" rIns="0" bIns="0" rtlCol="0" anchor="ctr"/>
          <a:lstStyle/>
          <a:p>
            <a:pPr indent="0" marL="0">
              <a:buNone/>
            </a:pPr>
            <a:r>
              <a:rPr lang="en-US" sz="9600" b="1" dirty="0">
                <a:solidFill>
                  <a:srgbClr val="0D9488"/>
                </a:solidFill>
                <a:latin typeface="Georgia" pitchFamily="34" charset="0"/>
                <a:ea typeface="Georgia" pitchFamily="34" charset="-122"/>
                <a:cs typeface="Georgia" pitchFamily="34" charset="-120"/>
              </a:rPr>
              <a:t>03</a:t>
            </a:r>
            <a:endParaRPr lang="en-US" sz="9600" dirty="0"/>
          </a:p>
        </p:txBody>
      </p:sp>
      <p:sp>
        <p:nvSpPr>
          <p:cNvPr id="4" name="Text 2"/>
          <p:cNvSpPr/>
          <p:nvPr/>
        </p:nvSpPr>
        <p:spPr>
          <a:xfrm>
            <a:off x="868680" y="2971800"/>
            <a:ext cx="10424160" cy="10972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Reconcile across systems</a:t>
            </a:r>
            <a:endParaRPr lang="en-US" sz="3800" dirty="0"/>
          </a:p>
        </p:txBody>
      </p:sp>
      <p:sp>
        <p:nvSpPr>
          <p:cNvPr id="5" name="Text 3"/>
          <p:cNvSpPr/>
          <p:nvPr/>
        </p:nvSpPr>
        <p:spPr>
          <a:xfrm>
            <a:off x="914400" y="4114800"/>
            <a:ext cx="10058400" cy="1097280"/>
          </a:xfrm>
          <a:prstGeom prst="rect">
            <a:avLst/>
          </a:prstGeom>
          <a:noFill/>
          <a:ln/>
        </p:spPr>
        <p:txBody>
          <a:bodyPr wrap="square" lIns="0" tIns="0" rIns="0" bIns="0" rtlCol="0" anchor="ctr"/>
          <a:lstStyle/>
          <a:p>
            <a:pPr indent="0" marL="0">
              <a:buNone/>
            </a:pPr>
            <a:r>
              <a:rPr lang="en-US" sz="1700" dirty="0">
                <a:solidFill>
                  <a:srgbClr val="5EEAD4"/>
                </a:solidFill>
                <a:latin typeface="Calibri" pitchFamily="34" charset="0"/>
                <a:ea typeface="Calibri" pitchFamily="34" charset="-122"/>
                <a:cs typeface="Calibri" pitchFamily="34" charset="-120"/>
              </a:rPr>
              <a:t>LIVE - Exercise 2 - when names almost match</a:t>
            </a:r>
            <a:endParaRPr lang="en-US" sz="1700" dirty="0"/>
          </a:p>
        </p:txBody>
      </p:sp>
      <p:sp>
        <p:nvSpPr>
          <p:cNvPr id="6" name="Shape 4"/>
          <p:cNvSpPr/>
          <p:nvPr/>
        </p:nvSpPr>
        <p:spPr>
          <a:xfrm>
            <a:off x="9921240" y="384048"/>
            <a:ext cx="1783080" cy="457200"/>
          </a:xfrm>
          <a:prstGeom prst="roundRect">
            <a:avLst>
              <a:gd name="adj" fmla="val 50000"/>
            </a:avLst>
          </a:prstGeom>
          <a:solidFill>
            <a:srgbClr val="0D9488"/>
          </a:solidFill>
          <a:ln/>
        </p:spPr>
        <p:txBody>
          <a:bodyPr/>
          <a:p/>
        </p:txBody>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24-33 min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417320"/>
          </a:xfrm>
          <a:prstGeom prst="rect">
            <a:avLst/>
          </a:prstGeom>
          <a:solidFill>
            <a:srgbClr val="FFFFFF"/>
          </a:solidFill>
          <a:ln/>
        </p:spPr>
        <p:txBody>
          <a:bodyPr/>
          <a:p/>
        </p:txBody>
      </p:sp>
      <p:sp>
        <p:nvSpPr>
          <p:cNvPr id="3" name="Shape 1"/>
          <p:cNvSpPr/>
          <p:nvPr/>
        </p:nvSpPr>
        <p:spPr>
          <a:xfrm>
            <a:off x="0" y="1417320"/>
            <a:ext cx="12161520" cy="45720"/>
          </a:xfrm>
          <a:prstGeom prst="rect">
            <a:avLst/>
          </a:prstGeom>
          <a:solidFill>
            <a:srgbClr val="0D9488"/>
          </a:solidFill>
          <a:ln/>
        </p:spPr>
        <p:txBody>
          <a:bodyPr/>
          <a:p/>
        </p:txBody>
      </p:sp>
      <p:sp>
        <p:nvSpPr>
          <p:cNvPr id="4" name="Text 2"/>
          <p:cNvSpPr/>
          <p:nvPr/>
        </p:nvSpPr>
        <p:spPr>
          <a:xfrm>
            <a:off x="548640" y="365760"/>
            <a:ext cx="86868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EXERCISE 2 - SETUP</a:t>
            </a:r>
            <a:endParaRPr lang="en-US" sz="1200" dirty="0"/>
          </a:p>
        </p:txBody>
      </p:sp>
      <p:sp>
        <p:nvSpPr>
          <p:cNvPr id="5" name="Text 3"/>
          <p:cNvSpPr/>
          <p:nvPr/>
        </p:nvSpPr>
        <p:spPr>
          <a:xfrm>
            <a:off x="548640" y="658368"/>
            <a:ext cx="9326880" cy="73152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Same companies, different spellings</a:t>
            </a:r>
            <a:endParaRPr lang="en-US" sz="2700" dirty="0"/>
          </a:p>
        </p:txBody>
      </p:sp>
      <p:sp>
        <p:nvSpPr>
          <p:cNvPr id="6" name="Shape 4"/>
          <p:cNvSpPr/>
          <p:nvPr/>
        </p:nvSpPr>
        <p:spPr>
          <a:xfrm>
            <a:off x="9921240" y="384048"/>
            <a:ext cx="1783080" cy="457200"/>
          </a:xfrm>
          <a:prstGeom prst="roundRect">
            <a:avLst>
              <a:gd name="adj" fmla="val 50000"/>
            </a:avLst>
          </a:prstGeom>
          <a:solidFill>
            <a:srgbClr val="E6F4F2"/>
          </a:solidFill>
          <a:ln/>
        </p:spPr>
        <p:txBody>
          <a:bodyPr/>
          <a:p/>
        </p:txBody>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24-27 min</a:t>
            </a:r>
            <a:endParaRPr lang="en-US" sz="1200" dirty="0"/>
          </a:p>
        </p:txBody>
      </p:sp>
      <p:sp>
        <p:nvSpPr>
          <p:cNvPr id="8" name="Shape 6"/>
          <p:cNvSpPr/>
          <p:nvPr/>
        </p:nvSpPr>
        <p:spPr>
          <a:xfrm>
            <a:off x="548640" y="1828800"/>
            <a:ext cx="5212080" cy="3931920"/>
          </a:xfrm>
          <a:prstGeom prst="roundRect">
            <a:avLst>
              <a:gd name="adj" fmla="val 2326"/>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9" name="Text 7"/>
          <p:cNvSpPr/>
          <p:nvPr/>
        </p:nvSpPr>
        <p:spPr>
          <a:xfrm>
            <a:off x="548640" y="2011680"/>
            <a:ext cx="5212080" cy="411480"/>
          </a:xfrm>
          <a:prstGeom prst="rect">
            <a:avLst/>
          </a:prstGeom>
          <a:noFill/>
          <a:ln/>
        </p:spPr>
        <p:txBody>
          <a:bodyPr wrap="square" lIns="0" tIns="0" rIns="0" bIns="0" rtlCol="0" anchor="ctr"/>
          <a:lstStyle/>
          <a:p>
            <a:pPr algn="ctr" indent="0" marL="0">
              <a:buNone/>
            </a:pPr>
            <a:r>
              <a:rPr lang="en-US" sz="1500" b="1" dirty="0">
                <a:solidFill>
                  <a:srgbClr val="0D9488"/>
                </a:solidFill>
                <a:latin typeface="Calibri" pitchFamily="34" charset="0"/>
                <a:ea typeface="Calibri" pitchFamily="34" charset="-122"/>
                <a:cs typeface="Calibri" pitchFamily="34" charset="-120"/>
              </a:rPr>
              <a:t>Sales export</a:t>
            </a:r>
            <a:endParaRPr lang="en-US" sz="1500" dirty="0"/>
          </a:p>
        </p:txBody>
      </p:sp>
      <p:sp>
        <p:nvSpPr>
          <p:cNvPr id="10" name="Shape 8"/>
          <p:cNvSpPr/>
          <p:nvPr/>
        </p:nvSpPr>
        <p:spPr>
          <a:xfrm>
            <a:off x="6400800" y="1828800"/>
            <a:ext cx="5212080" cy="3931920"/>
          </a:xfrm>
          <a:prstGeom prst="roundRect">
            <a:avLst>
              <a:gd name="adj" fmla="val 2326"/>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11" name="Text 9"/>
          <p:cNvSpPr/>
          <p:nvPr/>
        </p:nvSpPr>
        <p:spPr>
          <a:xfrm>
            <a:off x="6400800" y="2011680"/>
            <a:ext cx="5212080" cy="411480"/>
          </a:xfrm>
          <a:prstGeom prst="rect">
            <a:avLst/>
          </a:prstGeom>
          <a:noFill/>
          <a:ln/>
        </p:spPr>
        <p:txBody>
          <a:bodyPr wrap="square" lIns="0" tIns="0" rIns="0" bIns="0" rtlCol="0" anchor="ctr"/>
          <a:lstStyle/>
          <a:p>
            <a:pPr algn="ctr" indent="0" marL="0">
              <a:buNone/>
            </a:pPr>
            <a:r>
              <a:rPr lang="en-US" sz="1500" b="1" dirty="0">
                <a:solidFill>
                  <a:srgbClr val="F59E0B"/>
                </a:solidFill>
                <a:latin typeface="Calibri" pitchFamily="34" charset="0"/>
                <a:ea typeface="Calibri" pitchFamily="34" charset="-122"/>
                <a:cs typeface="Calibri" pitchFamily="34" charset="-120"/>
              </a:rPr>
              <a:t>CRM accounts</a:t>
            </a:r>
            <a:endParaRPr lang="en-US" sz="1500" dirty="0"/>
          </a:p>
        </p:txBody>
      </p:sp>
      <p:sp>
        <p:nvSpPr>
          <p:cNvPr id="12" name="Text 10"/>
          <p:cNvSpPr/>
          <p:nvPr/>
        </p:nvSpPr>
        <p:spPr>
          <a:xfrm>
            <a:off x="822960" y="2606040"/>
            <a:ext cx="4663440" cy="457200"/>
          </a:xfrm>
          <a:prstGeom prst="rect">
            <a:avLst/>
          </a:prstGeom>
          <a:noFill/>
          <a:ln/>
        </p:spPr>
        <p:txBody>
          <a:bodyPr wrap="square" lIns="0" tIns="0" rIns="0" bIns="0" rtlCol="0" anchor="ctr"/>
          <a:lstStyle/>
          <a:p>
            <a:pPr indent="0" marL="0">
              <a:buNone/>
            </a:pPr>
            <a:r>
              <a:rPr lang="en-US" sz="1350" dirty="0">
                <a:solidFill>
                  <a:srgbClr val="1E293B"/>
                </a:solidFill>
                <a:latin typeface="Consolas" pitchFamily="34" charset="0"/>
                <a:ea typeface="Consolas" pitchFamily="34" charset="-122"/>
                <a:cs typeface="Consolas" pitchFamily="34" charset="-120"/>
              </a:rPr>
              <a:t>Acme Corp</a:t>
            </a:r>
            <a:endParaRPr lang="en-US" sz="1350" dirty="0"/>
          </a:p>
        </p:txBody>
      </p:sp>
      <p:sp>
        <p:nvSpPr>
          <p:cNvPr id="13" name="Text 11"/>
          <p:cNvSpPr/>
          <p:nvPr/>
        </p:nvSpPr>
        <p:spPr>
          <a:xfrm>
            <a:off x="6675120" y="2606040"/>
            <a:ext cx="4663440" cy="457200"/>
          </a:xfrm>
          <a:prstGeom prst="rect">
            <a:avLst/>
          </a:prstGeom>
          <a:noFill/>
          <a:ln/>
        </p:spPr>
        <p:txBody>
          <a:bodyPr wrap="square" lIns="0" tIns="0" rIns="0" bIns="0" rtlCol="0" anchor="ctr"/>
          <a:lstStyle/>
          <a:p>
            <a:pPr indent="0" marL="0">
              <a:buNone/>
            </a:pPr>
            <a:r>
              <a:rPr lang="en-US" sz="1350" dirty="0">
                <a:solidFill>
                  <a:srgbClr val="1E293B"/>
                </a:solidFill>
                <a:latin typeface="Consolas" pitchFamily="34" charset="0"/>
                <a:ea typeface="Consolas" pitchFamily="34" charset="-122"/>
                <a:cs typeface="Consolas" pitchFamily="34" charset="-120"/>
              </a:rPr>
              <a:t>Acme Corporation</a:t>
            </a:r>
            <a:endParaRPr lang="en-US" sz="1350" dirty="0"/>
          </a:p>
        </p:txBody>
      </p:sp>
      <p:sp>
        <p:nvSpPr>
          <p:cNvPr id="14" name="Text 12"/>
          <p:cNvSpPr/>
          <p:nvPr/>
        </p:nvSpPr>
        <p:spPr>
          <a:xfrm>
            <a:off x="5760720" y="2606040"/>
            <a:ext cx="640080" cy="457200"/>
          </a:xfrm>
          <a:prstGeom prst="rect">
            <a:avLst/>
          </a:prstGeom>
          <a:noFill/>
          <a:ln/>
        </p:spPr>
        <p:txBody>
          <a:bodyPr wrap="square" lIns="0" tIns="0" rIns="0" bIns="0" rtlCol="0" anchor="ctr"/>
          <a:lstStyle/>
          <a:p>
            <a:pPr algn="ctr" indent="0" marL="0">
              <a:buNone/>
            </a:pPr>
            <a:r>
              <a:rPr lang="en-US" sz="1800" b="1" dirty="0">
                <a:solidFill>
                  <a:srgbClr val="0D9488"/>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822960" y="3227832"/>
            <a:ext cx="4663440" cy="457200"/>
          </a:xfrm>
          <a:prstGeom prst="rect">
            <a:avLst/>
          </a:prstGeom>
          <a:noFill/>
          <a:ln/>
        </p:spPr>
        <p:txBody>
          <a:bodyPr wrap="square" lIns="0" tIns="0" rIns="0" bIns="0" rtlCol="0" anchor="ctr"/>
          <a:lstStyle/>
          <a:p>
            <a:pPr indent="0" marL="0">
              <a:buNone/>
            </a:pPr>
            <a:r>
              <a:rPr lang="en-US" sz="1350" dirty="0">
                <a:solidFill>
                  <a:srgbClr val="1E293B"/>
                </a:solidFill>
                <a:latin typeface="Consolas" pitchFamily="34" charset="0"/>
                <a:ea typeface="Consolas" pitchFamily="34" charset="-122"/>
                <a:cs typeface="Consolas" pitchFamily="34" charset="-120"/>
              </a:rPr>
              <a:t>beta industries</a:t>
            </a:r>
            <a:endParaRPr lang="en-US" sz="1350" dirty="0"/>
          </a:p>
        </p:txBody>
      </p:sp>
      <p:sp>
        <p:nvSpPr>
          <p:cNvPr id="16" name="Text 14"/>
          <p:cNvSpPr/>
          <p:nvPr/>
        </p:nvSpPr>
        <p:spPr>
          <a:xfrm>
            <a:off x="6675120" y="3227832"/>
            <a:ext cx="4663440" cy="457200"/>
          </a:xfrm>
          <a:prstGeom prst="rect">
            <a:avLst/>
          </a:prstGeom>
          <a:noFill/>
          <a:ln/>
        </p:spPr>
        <p:txBody>
          <a:bodyPr wrap="square" lIns="0" tIns="0" rIns="0" bIns="0" rtlCol="0" anchor="ctr"/>
          <a:lstStyle/>
          <a:p>
            <a:pPr indent="0" marL="0">
              <a:buNone/>
            </a:pPr>
            <a:r>
              <a:rPr lang="en-US" sz="1350" dirty="0">
                <a:solidFill>
                  <a:srgbClr val="1E293B"/>
                </a:solidFill>
                <a:latin typeface="Consolas" pitchFamily="34" charset="0"/>
                <a:ea typeface="Consolas" pitchFamily="34" charset="-122"/>
                <a:cs typeface="Consolas" pitchFamily="34" charset="-120"/>
              </a:rPr>
              <a:t>Beta Industries Inc</a:t>
            </a:r>
            <a:endParaRPr lang="en-US" sz="1350" dirty="0"/>
          </a:p>
        </p:txBody>
      </p:sp>
      <p:sp>
        <p:nvSpPr>
          <p:cNvPr id="17" name="Text 15"/>
          <p:cNvSpPr/>
          <p:nvPr/>
        </p:nvSpPr>
        <p:spPr>
          <a:xfrm>
            <a:off x="5760720" y="3227832"/>
            <a:ext cx="640080" cy="457200"/>
          </a:xfrm>
          <a:prstGeom prst="rect">
            <a:avLst/>
          </a:prstGeom>
          <a:noFill/>
          <a:ln/>
        </p:spPr>
        <p:txBody>
          <a:bodyPr wrap="square" lIns="0" tIns="0" rIns="0" bIns="0" rtlCol="0" anchor="ctr"/>
          <a:lstStyle/>
          <a:p>
            <a:pPr algn="ctr" indent="0" marL="0">
              <a:buNone/>
            </a:pPr>
            <a:r>
              <a:rPr lang="en-US" sz="1800" b="1" dirty="0">
                <a:solidFill>
                  <a:srgbClr val="0D9488"/>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822960" y="3849624"/>
            <a:ext cx="4663440" cy="457200"/>
          </a:xfrm>
          <a:prstGeom prst="rect">
            <a:avLst/>
          </a:prstGeom>
          <a:noFill/>
          <a:ln/>
        </p:spPr>
        <p:txBody>
          <a:bodyPr wrap="square" lIns="0" tIns="0" rIns="0" bIns="0" rtlCol="0" anchor="ctr"/>
          <a:lstStyle/>
          <a:p>
            <a:pPr indent="0" marL="0">
              <a:buNone/>
            </a:pPr>
            <a:r>
              <a:rPr lang="en-US" sz="1350" dirty="0">
                <a:solidFill>
                  <a:srgbClr val="1E293B"/>
                </a:solidFill>
                <a:latin typeface="Consolas" pitchFamily="34" charset="0"/>
                <a:ea typeface="Consolas" pitchFamily="34" charset="-122"/>
                <a:cs typeface="Consolas" pitchFamily="34" charset="-120"/>
              </a:rPr>
              <a:t>Delta Co</a:t>
            </a:r>
            <a:endParaRPr lang="en-US" sz="1350" dirty="0"/>
          </a:p>
        </p:txBody>
      </p:sp>
      <p:sp>
        <p:nvSpPr>
          <p:cNvPr id="19" name="Text 17"/>
          <p:cNvSpPr/>
          <p:nvPr/>
        </p:nvSpPr>
        <p:spPr>
          <a:xfrm>
            <a:off x="6675120" y="3849624"/>
            <a:ext cx="4663440" cy="457200"/>
          </a:xfrm>
          <a:prstGeom prst="rect">
            <a:avLst/>
          </a:prstGeom>
          <a:noFill/>
          <a:ln/>
        </p:spPr>
        <p:txBody>
          <a:bodyPr wrap="square" lIns="0" tIns="0" rIns="0" bIns="0" rtlCol="0" anchor="ctr"/>
          <a:lstStyle/>
          <a:p>
            <a:pPr indent="0" marL="0">
              <a:buNone/>
            </a:pPr>
            <a:r>
              <a:rPr lang="en-US" sz="1350" dirty="0">
                <a:solidFill>
                  <a:srgbClr val="1E293B"/>
                </a:solidFill>
                <a:latin typeface="Consolas" pitchFamily="34" charset="0"/>
                <a:ea typeface="Consolas" pitchFamily="34" charset="-122"/>
                <a:cs typeface="Consolas" pitchFamily="34" charset="-120"/>
              </a:rPr>
              <a:t>Delta Company</a:t>
            </a:r>
            <a:endParaRPr lang="en-US" sz="1350" dirty="0"/>
          </a:p>
        </p:txBody>
      </p:sp>
      <p:sp>
        <p:nvSpPr>
          <p:cNvPr id="20" name="Text 18"/>
          <p:cNvSpPr/>
          <p:nvPr/>
        </p:nvSpPr>
        <p:spPr>
          <a:xfrm>
            <a:off x="5760720" y="3849624"/>
            <a:ext cx="640080" cy="457200"/>
          </a:xfrm>
          <a:prstGeom prst="rect">
            <a:avLst/>
          </a:prstGeom>
          <a:noFill/>
          <a:ln/>
        </p:spPr>
        <p:txBody>
          <a:bodyPr wrap="square" lIns="0" tIns="0" rIns="0" bIns="0" rtlCol="0" anchor="ctr"/>
          <a:lstStyle/>
          <a:p>
            <a:pPr algn="ctr" indent="0" marL="0">
              <a:buNone/>
            </a:pPr>
            <a:r>
              <a:rPr lang="en-US" sz="1800" b="1" dirty="0">
                <a:solidFill>
                  <a:srgbClr val="0D9488"/>
                </a:solidFill>
                <a:latin typeface="Calibri" pitchFamily="34" charset="0"/>
                <a:ea typeface="Calibri" pitchFamily="34" charset="-122"/>
                <a:cs typeface="Calibri" pitchFamily="34" charset="-120"/>
              </a:rPr>
              <a:t>~</a:t>
            </a:r>
            <a:endParaRPr lang="en-US" sz="1800" dirty="0"/>
          </a:p>
        </p:txBody>
      </p:sp>
      <p:sp>
        <p:nvSpPr>
          <p:cNvPr id="21" name="Text 19"/>
          <p:cNvSpPr/>
          <p:nvPr/>
        </p:nvSpPr>
        <p:spPr>
          <a:xfrm>
            <a:off x="822960" y="4471416"/>
            <a:ext cx="4663440" cy="457200"/>
          </a:xfrm>
          <a:prstGeom prst="rect">
            <a:avLst/>
          </a:prstGeom>
          <a:noFill/>
          <a:ln/>
        </p:spPr>
        <p:txBody>
          <a:bodyPr wrap="square" lIns="0" tIns="0" rIns="0" bIns="0" rtlCol="0" anchor="ctr"/>
          <a:lstStyle/>
          <a:p>
            <a:pPr indent="0" marL="0">
              <a:buNone/>
            </a:pPr>
            <a:r>
              <a:rPr lang="en-US" sz="1350" dirty="0">
                <a:solidFill>
                  <a:srgbClr val="1E293B"/>
                </a:solidFill>
                <a:latin typeface="Consolas" pitchFamily="34" charset="0"/>
                <a:ea typeface="Consolas" pitchFamily="34" charset="-122"/>
                <a:cs typeface="Consolas" pitchFamily="34" charset="-120"/>
              </a:rPr>
              <a:t>Eta Inc</a:t>
            </a:r>
            <a:endParaRPr lang="en-US" sz="1350" dirty="0"/>
          </a:p>
        </p:txBody>
      </p:sp>
      <p:sp>
        <p:nvSpPr>
          <p:cNvPr id="22" name="Text 20"/>
          <p:cNvSpPr/>
          <p:nvPr/>
        </p:nvSpPr>
        <p:spPr>
          <a:xfrm>
            <a:off x="6675120" y="4471416"/>
            <a:ext cx="4663440" cy="457200"/>
          </a:xfrm>
          <a:prstGeom prst="rect">
            <a:avLst/>
          </a:prstGeom>
          <a:noFill/>
          <a:ln/>
        </p:spPr>
        <p:txBody>
          <a:bodyPr wrap="square" lIns="0" tIns="0" rIns="0" bIns="0" rtlCol="0" anchor="ctr"/>
          <a:lstStyle/>
          <a:p>
            <a:pPr indent="0" marL="0">
              <a:buNone/>
            </a:pPr>
            <a:r>
              <a:rPr lang="en-US" sz="1350" dirty="0">
                <a:solidFill>
                  <a:srgbClr val="1E293B"/>
                </a:solidFill>
                <a:latin typeface="Consolas" pitchFamily="34" charset="0"/>
                <a:ea typeface="Consolas" pitchFamily="34" charset="-122"/>
                <a:cs typeface="Consolas" pitchFamily="34" charset="-120"/>
              </a:rPr>
              <a:t>Eta Inc.</a:t>
            </a:r>
            <a:endParaRPr lang="en-US" sz="1350" dirty="0"/>
          </a:p>
        </p:txBody>
      </p:sp>
      <p:sp>
        <p:nvSpPr>
          <p:cNvPr id="23" name="Text 21"/>
          <p:cNvSpPr/>
          <p:nvPr/>
        </p:nvSpPr>
        <p:spPr>
          <a:xfrm>
            <a:off x="5760720" y="4471416"/>
            <a:ext cx="640080" cy="457200"/>
          </a:xfrm>
          <a:prstGeom prst="rect">
            <a:avLst/>
          </a:prstGeom>
          <a:noFill/>
          <a:ln/>
        </p:spPr>
        <p:txBody>
          <a:bodyPr wrap="square" lIns="0" tIns="0" rIns="0" bIns="0" rtlCol="0" anchor="ctr"/>
          <a:lstStyle/>
          <a:p>
            <a:pPr algn="ctr" indent="0" marL="0">
              <a:buNone/>
            </a:pPr>
            <a:r>
              <a:rPr lang="en-US" sz="1800" b="1" dirty="0">
                <a:solidFill>
                  <a:srgbClr val="0D9488"/>
                </a:solidFill>
                <a:latin typeface="Calibri" pitchFamily="34" charset="0"/>
                <a:ea typeface="Calibri" pitchFamily="34" charset="-122"/>
                <a:cs typeface="Calibri" pitchFamily="34" charset="-120"/>
              </a:rPr>
              <a:t>~</a:t>
            </a:r>
            <a:endParaRPr lang="en-US" sz="1800" dirty="0"/>
          </a:p>
        </p:txBody>
      </p:sp>
      <p:sp>
        <p:nvSpPr>
          <p:cNvPr id="24" name="Text 22"/>
          <p:cNvSpPr/>
          <p:nvPr/>
        </p:nvSpPr>
        <p:spPr>
          <a:xfrm>
            <a:off x="822960" y="5093208"/>
            <a:ext cx="4663440" cy="457200"/>
          </a:xfrm>
          <a:prstGeom prst="rect">
            <a:avLst/>
          </a:prstGeom>
          <a:noFill/>
          <a:ln/>
        </p:spPr>
        <p:txBody>
          <a:bodyPr wrap="square" lIns="0" tIns="0" rIns="0" bIns="0" rtlCol="0" anchor="ctr"/>
          <a:lstStyle/>
          <a:p>
            <a:pPr indent="0" marL="0">
              <a:buNone/>
            </a:pPr>
            <a:r>
              <a:rPr lang="en-US" sz="1350" dirty="0">
                <a:solidFill>
                  <a:srgbClr val="1E293B"/>
                </a:solidFill>
                <a:latin typeface="Consolas" pitchFamily="34" charset="0"/>
                <a:ea typeface="Consolas" pitchFamily="34" charset="-122"/>
                <a:cs typeface="Consolas" pitchFamily="34" charset="-120"/>
              </a:rPr>
              <a:t>Theta Ltd</a:t>
            </a:r>
            <a:endParaRPr lang="en-US" sz="1350" dirty="0"/>
          </a:p>
        </p:txBody>
      </p:sp>
      <p:sp>
        <p:nvSpPr>
          <p:cNvPr id="25" name="Text 23"/>
          <p:cNvSpPr/>
          <p:nvPr/>
        </p:nvSpPr>
        <p:spPr>
          <a:xfrm>
            <a:off x="6675120" y="5093208"/>
            <a:ext cx="4663440" cy="457200"/>
          </a:xfrm>
          <a:prstGeom prst="rect">
            <a:avLst/>
          </a:prstGeom>
          <a:noFill/>
          <a:ln/>
        </p:spPr>
        <p:txBody>
          <a:bodyPr wrap="square" lIns="0" tIns="0" rIns="0" bIns="0" rtlCol="0" anchor="ctr"/>
          <a:lstStyle/>
          <a:p>
            <a:pPr indent="0" marL="0">
              <a:buNone/>
            </a:pPr>
            <a:r>
              <a:rPr lang="en-US" sz="1350" dirty="0">
                <a:solidFill>
                  <a:srgbClr val="1E293B"/>
                </a:solidFill>
                <a:latin typeface="Consolas" pitchFamily="34" charset="0"/>
                <a:ea typeface="Consolas" pitchFamily="34" charset="-122"/>
                <a:cs typeface="Consolas" pitchFamily="34" charset="-120"/>
              </a:rPr>
              <a:t>Theta Limited</a:t>
            </a:r>
            <a:endParaRPr lang="en-US" sz="1350" dirty="0"/>
          </a:p>
        </p:txBody>
      </p:sp>
      <p:sp>
        <p:nvSpPr>
          <p:cNvPr id="26" name="Text 24"/>
          <p:cNvSpPr/>
          <p:nvPr/>
        </p:nvSpPr>
        <p:spPr>
          <a:xfrm>
            <a:off x="5760720" y="5093208"/>
            <a:ext cx="640080" cy="457200"/>
          </a:xfrm>
          <a:prstGeom prst="rect">
            <a:avLst/>
          </a:prstGeom>
          <a:noFill/>
          <a:ln/>
        </p:spPr>
        <p:txBody>
          <a:bodyPr wrap="square" lIns="0" tIns="0" rIns="0" bIns="0" rtlCol="0" anchor="ctr"/>
          <a:lstStyle/>
          <a:p>
            <a:pPr algn="ctr" indent="0" marL="0">
              <a:buNone/>
            </a:pPr>
            <a:r>
              <a:rPr lang="en-US" sz="1800" b="1" dirty="0">
                <a:solidFill>
                  <a:srgbClr val="0D9488"/>
                </a:solidFill>
                <a:latin typeface="Calibri" pitchFamily="34" charset="0"/>
                <a:ea typeface="Calibri" pitchFamily="34" charset="-122"/>
                <a:cs typeface="Calibri" pitchFamily="34" charset="-120"/>
              </a:rPr>
              <a:t>~</a:t>
            </a:r>
            <a:endParaRPr lang="en-US" sz="1800" dirty="0"/>
          </a:p>
        </p:txBody>
      </p:sp>
      <p:sp>
        <p:nvSpPr>
          <p:cNvPr id="27" name="Text 25"/>
          <p:cNvSpPr/>
          <p:nvPr/>
        </p:nvSpPr>
        <p:spPr>
          <a:xfrm>
            <a:off x="548640" y="5943600"/>
            <a:ext cx="109728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An exact-match VLOOKUP fails on every one of these.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417320"/>
          </a:xfrm>
          <a:prstGeom prst="rect">
            <a:avLst/>
          </a:prstGeom>
          <a:solidFill>
            <a:srgbClr val="FFFFFF"/>
          </a:solidFill>
          <a:ln/>
        </p:spPr>
        <p:txBody>
          <a:bodyPr/>
          <a:p/>
        </p:txBody>
      </p:sp>
      <p:sp>
        <p:nvSpPr>
          <p:cNvPr id="3" name="Shape 1"/>
          <p:cNvSpPr/>
          <p:nvPr/>
        </p:nvSpPr>
        <p:spPr>
          <a:xfrm>
            <a:off x="0" y="1417320"/>
            <a:ext cx="12161520" cy="45720"/>
          </a:xfrm>
          <a:prstGeom prst="rect">
            <a:avLst/>
          </a:prstGeom>
          <a:solidFill>
            <a:srgbClr val="0D9488"/>
          </a:solidFill>
          <a:ln/>
        </p:spPr>
        <p:txBody>
          <a:bodyPr/>
          <a:p/>
        </p:txBody>
      </p:sp>
      <p:sp>
        <p:nvSpPr>
          <p:cNvPr id="4" name="Text 2"/>
          <p:cNvSpPr/>
          <p:nvPr/>
        </p:nvSpPr>
        <p:spPr>
          <a:xfrm>
            <a:off x="548640" y="365760"/>
            <a:ext cx="86868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EXERCISE 2 - DO IT TOGETHER</a:t>
            </a:r>
            <a:endParaRPr lang="en-US" sz="1200" dirty="0"/>
          </a:p>
        </p:txBody>
      </p:sp>
      <p:sp>
        <p:nvSpPr>
          <p:cNvPr id="5" name="Text 3"/>
          <p:cNvSpPr/>
          <p:nvPr/>
        </p:nvSpPr>
        <p:spPr>
          <a:xfrm>
            <a:off x="548640" y="658368"/>
            <a:ext cx="9326880" cy="73152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Build a match table with confidence</a:t>
            </a:r>
            <a:endParaRPr lang="en-US" sz="2700" dirty="0"/>
          </a:p>
        </p:txBody>
      </p:sp>
      <p:sp>
        <p:nvSpPr>
          <p:cNvPr id="6" name="Shape 4"/>
          <p:cNvSpPr/>
          <p:nvPr/>
        </p:nvSpPr>
        <p:spPr>
          <a:xfrm>
            <a:off x="9921240" y="384048"/>
            <a:ext cx="1783080" cy="457200"/>
          </a:xfrm>
          <a:prstGeom prst="roundRect">
            <a:avLst>
              <a:gd name="adj" fmla="val 50000"/>
            </a:avLst>
          </a:prstGeom>
          <a:solidFill>
            <a:srgbClr val="E6F4F2"/>
          </a:solidFill>
          <a:ln/>
        </p:spPr>
        <p:txBody>
          <a:bodyPr/>
          <a:p/>
        </p:txBody>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27-33 min</a:t>
            </a:r>
            <a:endParaRPr lang="en-US" sz="1200" dirty="0"/>
          </a:p>
        </p:txBody>
      </p:sp>
      <p:sp>
        <p:nvSpPr>
          <p:cNvPr id="8" name="Shape 6"/>
          <p:cNvSpPr/>
          <p:nvPr/>
        </p:nvSpPr>
        <p:spPr>
          <a:xfrm>
            <a:off x="548640" y="1737360"/>
            <a:ext cx="11064240" cy="2194560"/>
          </a:xfrm>
          <a:prstGeom prst="roundRect">
            <a:avLst>
              <a:gd name="adj" fmla="val 4167"/>
            </a:avLst>
          </a:prstGeom>
          <a:solidFill>
            <a:srgbClr val="1E293B"/>
          </a:solidFill>
          <a:ln/>
          <a:effectLst>
            <a:outerShdw sx="100000" sy="100000" kx="0" ky="0" algn="bl" rotWithShape="0" blurRad="88900" dist="38100" dir="8100000">
              <a:srgbClr val="000000">
                <a:alpha val="12000"/>
              </a:srgbClr>
            </a:outerShdw>
          </a:effectLst>
        </p:spPr>
        <p:txBody>
          <a:bodyPr/>
          <a:p/>
        </p:txBody>
      </p:sp>
      <p:sp>
        <p:nvSpPr>
          <p:cNvPr id="9" name="Shape 7"/>
          <p:cNvSpPr/>
          <p:nvPr/>
        </p:nvSpPr>
        <p:spPr>
          <a:xfrm>
            <a:off x="548640" y="1737360"/>
            <a:ext cx="109728" cy="2194560"/>
          </a:xfrm>
          <a:prstGeom prst="rect">
            <a:avLst/>
          </a:prstGeom>
          <a:solidFill>
            <a:srgbClr val="0D9488"/>
          </a:solidFill>
          <a:ln/>
        </p:spPr>
        <p:txBody>
          <a:bodyPr/>
          <a:p/>
        </p:txBody>
      </p:sp>
      <p:sp>
        <p:nvSpPr>
          <p:cNvPr id="10" name="Text 8"/>
          <p:cNvSpPr/>
          <p:nvPr/>
        </p:nvSpPr>
        <p:spPr>
          <a:xfrm>
            <a:off x="868680" y="1901952"/>
            <a:ext cx="10515600" cy="1874520"/>
          </a:xfrm>
          <a:prstGeom prst="rect">
            <a:avLst/>
          </a:prstGeom>
          <a:noFill/>
          <a:ln/>
        </p:spPr>
        <p:txBody>
          <a:bodyPr wrap="square" lIns="0" tIns="0" rIns="0" bIns="0" rtlCol="0" anchor="ctr"/>
          <a:lstStyle/>
          <a:p>
            <a:pPr indent="0" marL="0">
              <a:lnSpc>
                <a:spcPct val="105000"/>
              </a:lnSpc>
              <a:buNone/>
            </a:pPr>
            <a:r>
              <a:rPr lang="en-US" sz="1200" dirty="0">
                <a:solidFill>
                  <a:srgbClr val="F1F5F9"/>
                </a:solidFill>
                <a:latin typeface="Consolas" pitchFamily="34" charset="0"/>
                <a:ea typeface="Consolas" pitchFamily="34" charset="-122"/>
                <a:cs typeface="Consolas" pitchFamily="34" charset="-120"/>
              </a:rPr>
              <a:t>Here are two lists. List A is customer names from my sales export; List B is
</a:t>
            </a:r>
            <a:endParaRPr lang="en-US" sz="1200" dirty="0"/>
          </a:p>
          <a:p>
            <a:pPr indent="0" marL="0">
              <a:lnSpc>
                <a:spcPct val="105000"/>
              </a:lnSpc>
              <a:buNone/>
            </a:pPr>
            <a:r>
              <a:rPr lang="en-US" sz="1200" dirty="0">
                <a:solidFill>
                  <a:srgbClr val="F1F5F9"/>
                </a:solidFill>
                <a:latin typeface="Consolas" pitchFamily="34" charset="0"/>
                <a:ea typeface="Consolas" pitchFamily="34" charset="-122"/>
                <a:cs typeface="Consolas" pitchFamily="34" charset="-120"/>
              </a:rPr>
              <a:t>account names from our CRM. Match each List A name to the most likely List B
</a:t>
            </a:r>
            <a:endParaRPr lang="en-US" sz="1200" dirty="0"/>
          </a:p>
          <a:p>
            <a:pPr indent="0" marL="0">
              <a:lnSpc>
                <a:spcPct val="105000"/>
              </a:lnSpc>
              <a:buNone/>
            </a:pPr>
            <a:r>
              <a:rPr lang="en-US" sz="1200" dirty="0">
                <a:solidFill>
                  <a:srgbClr val="F1F5F9"/>
                </a:solidFill>
                <a:latin typeface="Consolas" pitchFamily="34" charset="0"/>
                <a:ea typeface="Consolas" pitchFamily="34" charset="-122"/>
                <a:cs typeface="Consolas" pitchFamily="34" charset="-120"/>
              </a:rPr>
              <a:t>account. Return a table: Sales Name | CRM Match | Confidence (High/Med/Low).
</a:t>
            </a:r>
            <a:endParaRPr lang="en-US" sz="1200" dirty="0"/>
          </a:p>
          <a:p>
            <a:pPr indent="0" marL="0">
              <a:lnSpc>
                <a:spcPct val="105000"/>
              </a:lnSpc>
              <a:buNone/>
            </a:pPr>
            <a:r>
              <a:rPr lang="en-US" sz="1200" dirty="0">
                <a:solidFill>
                  <a:srgbClr val="F1F5F9"/>
                </a:solidFill>
                <a:latin typeface="Consolas" pitchFamily="34" charset="0"/>
                <a:ea typeface="Consolas" pitchFamily="34" charset="-122"/>
                <a:cs typeface="Consolas" pitchFamily="34" charset="-120"/>
              </a:rPr>
              <a:t>If you are not confident, mark it Low and do NOT force a match.
</a:t>
            </a:r>
            <a:endParaRPr lang="en-US" sz="1200" dirty="0"/>
          </a:p>
          <a:p>
            <a:pPr indent="0" marL="0">
              <a:lnSpc>
                <a:spcPct val="105000"/>
              </a:lnSpc>
              <a:buNone/>
            </a:pPr>
            <a:r>
              <a:rPr lang="en-US" sz="1200" i="1" dirty="0">
                <a:solidFill>
                  <a:srgbClr val="5EEAD4"/>
                </a:solidFill>
                <a:latin typeface="Consolas" pitchFamily="34" charset="0"/>
                <a:ea typeface="Consolas" pitchFamily="34" charset="-122"/>
                <a:cs typeface="Consolas" pitchFamily="34" charset="-120"/>
              </a:rPr>
              <a:t>[paste List A, then List B]</a:t>
            </a:r>
            <a:endParaRPr lang="en-US" sz="1200" dirty="0"/>
          </a:p>
        </p:txBody>
      </p:sp>
      <p:sp>
        <p:nvSpPr>
          <p:cNvPr id="11" name="Shape 9"/>
          <p:cNvSpPr/>
          <p:nvPr/>
        </p:nvSpPr>
        <p:spPr>
          <a:xfrm>
            <a:off x="548640" y="4114800"/>
            <a:ext cx="11064240" cy="1828800"/>
          </a:xfrm>
          <a:prstGeom prst="roundRect">
            <a:avLst>
              <a:gd name="adj" fmla="val 5000"/>
            </a:avLst>
          </a:prstGeom>
          <a:solidFill>
            <a:srgbClr val="FEF3C7"/>
          </a:solidFill>
          <a:ln w="19050">
            <a:solidFill>
              <a:srgbClr val="F59E0B"/>
            </a:solidFill>
            <a:prstDash val="solid"/>
          </a:ln>
        </p:spPr>
        <p:txBody>
          <a:bodyPr/>
          <a:p/>
        </p:txBody>
      </p:sp>
      <p:sp>
        <p:nvSpPr>
          <p:cNvPr id="12" name="Shape 10"/>
          <p:cNvSpPr/>
          <p:nvPr/>
        </p:nvSpPr>
        <p:spPr>
          <a:xfrm>
            <a:off x="777240" y="4343400"/>
            <a:ext cx="457200" cy="457200"/>
          </a:xfrm>
          <a:prstGeom prst="ellipse">
            <a:avLst/>
          </a:prstGeom>
          <a:solidFill>
            <a:srgbClr val="F59E0B"/>
          </a:solidFill>
          <a:ln/>
        </p:spPr>
        <p:txBody>
          <a:bodyPr/>
          <a:p/>
        </p:txBody>
      </p:sp>
      <p:sp>
        <p:nvSpPr>
          <p:cNvPr id="13" name="Text 11"/>
          <p:cNvSpPr/>
          <p:nvPr/>
        </p:nvSpPr>
        <p:spPr>
          <a:xfrm>
            <a:off x="777240" y="434340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a:t>
            </a:r>
            <a:endParaRPr lang="en-US" sz="2200" dirty="0"/>
          </a:p>
        </p:txBody>
      </p:sp>
      <p:sp>
        <p:nvSpPr>
          <p:cNvPr id="14" name="Text 12"/>
          <p:cNvSpPr/>
          <p:nvPr/>
        </p:nvSpPr>
        <p:spPr>
          <a:xfrm>
            <a:off x="1417320" y="4224528"/>
            <a:ext cx="1005840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Verify every match - this is where AI errs</a:t>
            </a:r>
            <a:endParaRPr lang="en-US" sz="1500" dirty="0"/>
          </a:p>
        </p:txBody>
      </p:sp>
      <p:sp>
        <p:nvSpPr>
          <p:cNvPr id="15" name="Text 13"/>
          <p:cNvSpPr/>
          <p:nvPr/>
        </p:nvSpPr>
        <p:spPr>
          <a:xfrm>
            <a:off x="1417320" y="4617720"/>
            <a:ext cx="9966960" cy="109728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Scan the Confidence column first. Eyeball every 'Low' and every match by hand before trusting it. The confidence column exists so you know where to look - not so you can skip looking.</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D9488"/>
          </a:solidFill>
          <a:ln/>
        </p:spPr>
        <p:txBody>
          <a:bodyPr/>
          <a:p/>
        </p:txBody>
      </p:sp>
      <p:sp>
        <p:nvSpPr>
          <p:cNvPr id="3" name="Text 1"/>
          <p:cNvSpPr/>
          <p:nvPr/>
        </p:nvSpPr>
        <p:spPr>
          <a:xfrm>
            <a:off x="822960" y="1554480"/>
            <a:ext cx="2743200" cy="1463040"/>
          </a:xfrm>
          <a:prstGeom prst="rect">
            <a:avLst/>
          </a:prstGeom>
          <a:noFill/>
          <a:ln/>
        </p:spPr>
        <p:txBody>
          <a:bodyPr wrap="square" lIns="0" tIns="0" rIns="0" bIns="0" rtlCol="0" anchor="ctr"/>
          <a:lstStyle/>
          <a:p>
            <a:pPr indent="0" marL="0">
              <a:buNone/>
            </a:pPr>
            <a:r>
              <a:rPr lang="en-US" sz="9600" b="1" dirty="0">
                <a:solidFill>
                  <a:srgbClr val="0D9488"/>
                </a:solidFill>
                <a:latin typeface="Georgia" pitchFamily="34" charset="0"/>
                <a:ea typeface="Georgia" pitchFamily="34" charset="-122"/>
                <a:cs typeface="Georgia" pitchFamily="34" charset="-120"/>
              </a:rPr>
              <a:t>04</a:t>
            </a:r>
            <a:endParaRPr lang="en-US" sz="9600" dirty="0"/>
          </a:p>
        </p:txBody>
      </p:sp>
      <p:sp>
        <p:nvSpPr>
          <p:cNvPr id="4" name="Text 2"/>
          <p:cNvSpPr/>
          <p:nvPr/>
        </p:nvSpPr>
        <p:spPr>
          <a:xfrm>
            <a:off x="868680" y="2971800"/>
            <a:ext cx="10424160" cy="10972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Excel formulas made easy</a:t>
            </a:r>
            <a:endParaRPr lang="en-US" sz="3800" dirty="0"/>
          </a:p>
        </p:txBody>
      </p:sp>
      <p:sp>
        <p:nvSpPr>
          <p:cNvPr id="5" name="Text 3"/>
          <p:cNvSpPr/>
          <p:nvPr/>
        </p:nvSpPr>
        <p:spPr>
          <a:xfrm>
            <a:off x="914400" y="4114800"/>
            <a:ext cx="10058400" cy="1097280"/>
          </a:xfrm>
          <a:prstGeom prst="rect">
            <a:avLst/>
          </a:prstGeom>
          <a:noFill/>
          <a:ln/>
        </p:spPr>
        <p:txBody>
          <a:bodyPr wrap="square" lIns="0" tIns="0" rIns="0" bIns="0" rtlCol="0" anchor="ctr"/>
          <a:lstStyle/>
          <a:p>
            <a:pPr indent="0" marL="0">
              <a:buNone/>
            </a:pPr>
            <a:r>
              <a:rPr lang="en-US" sz="1700" dirty="0">
                <a:solidFill>
                  <a:srgbClr val="5EEAD4"/>
                </a:solidFill>
                <a:latin typeface="Calibri" pitchFamily="34" charset="0"/>
                <a:ea typeface="Calibri" pitchFamily="34" charset="-122"/>
                <a:cs typeface="Calibri" pitchFamily="34" charset="-120"/>
              </a:rPr>
              <a:t>LIVE - Exercise 3 - describe what you want, get the formula</a:t>
            </a:r>
            <a:endParaRPr lang="en-US" sz="1700" dirty="0"/>
          </a:p>
        </p:txBody>
      </p:sp>
      <p:sp>
        <p:nvSpPr>
          <p:cNvPr id="6" name="Shape 4"/>
          <p:cNvSpPr/>
          <p:nvPr/>
        </p:nvSpPr>
        <p:spPr>
          <a:xfrm>
            <a:off x="9921240" y="384048"/>
            <a:ext cx="1783080" cy="457200"/>
          </a:xfrm>
          <a:prstGeom prst="roundRect">
            <a:avLst>
              <a:gd name="adj" fmla="val 50000"/>
            </a:avLst>
          </a:prstGeom>
          <a:solidFill>
            <a:srgbClr val="0D9488"/>
          </a:solidFill>
          <a:ln/>
        </p:spPr>
        <p:txBody>
          <a:bodyPr/>
          <a:p/>
        </p:txBody>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33-42 min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417320"/>
          </a:xfrm>
          <a:prstGeom prst="rect">
            <a:avLst/>
          </a:prstGeom>
          <a:solidFill>
            <a:srgbClr val="FFFFFF"/>
          </a:solidFill>
          <a:ln/>
        </p:spPr>
        <p:txBody>
          <a:bodyPr/>
          <a:p/>
        </p:txBody>
      </p:sp>
      <p:sp>
        <p:nvSpPr>
          <p:cNvPr id="3" name="Shape 1"/>
          <p:cNvSpPr/>
          <p:nvPr/>
        </p:nvSpPr>
        <p:spPr>
          <a:xfrm>
            <a:off x="0" y="1417320"/>
            <a:ext cx="12161520" cy="45720"/>
          </a:xfrm>
          <a:prstGeom prst="rect">
            <a:avLst/>
          </a:prstGeom>
          <a:solidFill>
            <a:srgbClr val="0D9488"/>
          </a:solidFill>
          <a:ln/>
        </p:spPr>
        <p:txBody>
          <a:bodyPr/>
          <a:p/>
        </p:txBody>
      </p:sp>
      <p:sp>
        <p:nvSpPr>
          <p:cNvPr id="4" name="Text 2"/>
          <p:cNvSpPr/>
          <p:nvPr/>
        </p:nvSpPr>
        <p:spPr>
          <a:xfrm>
            <a:off x="548640" y="365760"/>
            <a:ext cx="86868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EXERCISE 3 - DO IT TOGETHER</a:t>
            </a:r>
            <a:endParaRPr lang="en-US" sz="1200" dirty="0"/>
          </a:p>
        </p:txBody>
      </p:sp>
      <p:sp>
        <p:nvSpPr>
          <p:cNvPr id="5" name="Text 3"/>
          <p:cNvSpPr/>
          <p:nvPr/>
        </p:nvSpPr>
        <p:spPr>
          <a:xfrm>
            <a:off x="548640" y="658368"/>
            <a:ext cx="9326880" cy="73152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From plain English to a working formula</a:t>
            </a:r>
            <a:endParaRPr lang="en-US" sz="2700" dirty="0"/>
          </a:p>
        </p:txBody>
      </p:sp>
      <p:sp>
        <p:nvSpPr>
          <p:cNvPr id="6" name="Shape 4"/>
          <p:cNvSpPr/>
          <p:nvPr/>
        </p:nvSpPr>
        <p:spPr>
          <a:xfrm>
            <a:off x="9921240" y="384048"/>
            <a:ext cx="1783080" cy="457200"/>
          </a:xfrm>
          <a:prstGeom prst="roundRect">
            <a:avLst>
              <a:gd name="adj" fmla="val 50000"/>
            </a:avLst>
          </a:prstGeom>
          <a:solidFill>
            <a:srgbClr val="E6F4F2"/>
          </a:solidFill>
          <a:ln/>
        </p:spPr>
        <p:txBody>
          <a:bodyPr/>
          <a:p/>
        </p:txBody>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33-42 min</a:t>
            </a:r>
            <a:endParaRPr lang="en-US" sz="1200" dirty="0"/>
          </a:p>
        </p:txBody>
      </p:sp>
      <p:sp>
        <p:nvSpPr>
          <p:cNvPr id="8" name="Shape 6"/>
          <p:cNvSpPr/>
          <p:nvPr/>
        </p:nvSpPr>
        <p:spPr>
          <a:xfrm>
            <a:off x="548640" y="1737360"/>
            <a:ext cx="5486400" cy="2743200"/>
          </a:xfrm>
          <a:prstGeom prst="roundRect">
            <a:avLst>
              <a:gd name="adj" fmla="val 3333"/>
            </a:avLst>
          </a:prstGeom>
          <a:solidFill>
            <a:srgbClr val="1E293B"/>
          </a:solidFill>
          <a:ln/>
          <a:effectLst>
            <a:outerShdw sx="100000" sy="100000" kx="0" ky="0" algn="bl" rotWithShape="0" blurRad="88900" dist="38100" dir="8100000">
              <a:srgbClr val="000000">
                <a:alpha val="12000"/>
              </a:srgbClr>
            </a:outerShdw>
          </a:effectLst>
        </p:spPr>
        <p:txBody>
          <a:bodyPr/>
          <a:p/>
        </p:txBody>
      </p:sp>
      <p:sp>
        <p:nvSpPr>
          <p:cNvPr id="9" name="Text 7"/>
          <p:cNvSpPr/>
          <p:nvPr/>
        </p:nvSpPr>
        <p:spPr>
          <a:xfrm>
            <a:off x="777240" y="1874520"/>
            <a:ext cx="4572000" cy="320040"/>
          </a:xfrm>
          <a:prstGeom prst="rect">
            <a:avLst/>
          </a:prstGeom>
          <a:noFill/>
          <a:ln/>
        </p:spPr>
        <p:txBody>
          <a:bodyPr wrap="square" lIns="0" tIns="0" rIns="0" bIns="0" rtlCol="0" anchor="ctr"/>
          <a:lstStyle/>
          <a:p>
            <a:pPr indent="0" marL="0">
              <a:buNone/>
            </a:pPr>
            <a:r>
              <a:rPr lang="en-US" sz="1300" b="1" dirty="0">
                <a:solidFill>
                  <a:srgbClr val="5EEAD4"/>
                </a:solidFill>
                <a:latin typeface="Calibri" pitchFamily="34" charset="0"/>
                <a:ea typeface="Calibri" pitchFamily="34" charset="-122"/>
                <a:cs typeface="Calibri" pitchFamily="34" charset="-120"/>
              </a:rPr>
              <a:t>Excel formula</a:t>
            </a:r>
            <a:endParaRPr lang="en-US" sz="1300" dirty="0"/>
          </a:p>
        </p:txBody>
      </p:sp>
      <p:sp>
        <p:nvSpPr>
          <p:cNvPr id="10" name="Text 8"/>
          <p:cNvSpPr/>
          <p:nvPr/>
        </p:nvSpPr>
        <p:spPr>
          <a:xfrm>
            <a:off x="777240" y="2286000"/>
            <a:ext cx="5029200" cy="2011680"/>
          </a:xfrm>
          <a:prstGeom prst="rect">
            <a:avLst/>
          </a:prstGeom>
          <a:noFill/>
          <a:ln/>
        </p:spPr>
        <p:txBody>
          <a:bodyPr wrap="square" lIns="0" tIns="0" rIns="0" bIns="0" rtlCol="0" anchor="ctr"/>
          <a:lstStyle/>
          <a:p>
            <a:pPr indent="0" marL="0">
              <a:lnSpc>
                <a:spcPct val="104000"/>
              </a:lnSpc>
              <a:buNone/>
            </a:pPr>
            <a:r>
              <a:rPr lang="en-US" sz="1150" dirty="0">
                <a:solidFill>
                  <a:srgbClr val="F1F5F9"/>
                </a:solidFill>
                <a:latin typeface="Consolas" pitchFamily="34" charset="0"/>
                <a:ea typeface="Consolas" pitchFamily="34" charset="-122"/>
                <a:cs typeface="Consolas" pitchFamily="34" charset="-120"/>
              </a:rPr>
              <a:t>In Excel, column C is Customer and column G is
</a:t>
            </a:r>
            <a:endParaRPr lang="en-US" sz="1150" dirty="0"/>
          </a:p>
          <a:p>
            <a:pPr indent="0" marL="0">
              <a:lnSpc>
                <a:spcPct val="104000"/>
              </a:lnSpc>
              <a:buNone/>
            </a:pPr>
            <a:r>
              <a:rPr lang="en-US" sz="1150" dirty="0">
                <a:solidFill>
                  <a:srgbClr val="F1F5F9"/>
                </a:solidFill>
                <a:latin typeface="Consolas" pitchFamily="34" charset="0"/>
                <a:ea typeface="Consolas" pitchFamily="34" charset="-122"/>
                <a:cs typeface="Consolas" pitchFamily="34" charset="-120"/>
              </a:rPr>
              <a:t>Revenue. Write a formula for total Revenue per
</a:t>
            </a:r>
            <a:endParaRPr lang="en-US" sz="1150" dirty="0"/>
          </a:p>
          <a:p>
            <a:pPr indent="0" marL="0">
              <a:lnSpc>
                <a:spcPct val="104000"/>
              </a:lnSpc>
              <a:buNone/>
            </a:pPr>
            <a:r>
              <a:rPr lang="en-US" sz="1150" dirty="0">
                <a:solidFill>
                  <a:srgbClr val="F1F5F9"/>
                </a:solidFill>
                <a:latin typeface="Consolas" pitchFamily="34" charset="0"/>
                <a:ea typeface="Consolas" pitchFamily="34" charset="-122"/>
                <a:cs typeface="Consolas" pitchFamily="34" charset="-120"/>
              </a:rPr>
              <a:t>customer that I can copy down. Tell me exactly
</a:t>
            </a:r>
            <a:endParaRPr lang="en-US" sz="1150" dirty="0"/>
          </a:p>
          <a:p>
            <a:pPr indent="0" marL="0">
              <a:lnSpc>
                <a:spcPct val="104000"/>
              </a:lnSpc>
              <a:buNone/>
            </a:pPr>
            <a:r>
              <a:rPr lang="en-US" sz="1150" dirty="0">
                <a:solidFill>
                  <a:srgbClr val="F1F5F9"/>
                </a:solidFill>
                <a:latin typeface="Consolas" pitchFamily="34" charset="0"/>
                <a:ea typeface="Consolas" pitchFamily="34" charset="-122"/>
                <a:cs typeface="Consolas" pitchFamily="34" charset="-120"/>
              </a:rPr>
              <a:t>which cell to put it in, and explain it in one line.</a:t>
            </a:r>
            <a:endParaRPr lang="en-US" sz="1150" dirty="0"/>
          </a:p>
        </p:txBody>
      </p:sp>
      <p:sp>
        <p:nvSpPr>
          <p:cNvPr id="11" name="Shape 9"/>
          <p:cNvSpPr/>
          <p:nvPr/>
        </p:nvSpPr>
        <p:spPr>
          <a:xfrm>
            <a:off x="6217920" y="1737360"/>
            <a:ext cx="5394960" cy="2743200"/>
          </a:xfrm>
          <a:prstGeom prst="roundRect">
            <a:avLst>
              <a:gd name="adj" fmla="val 3333"/>
            </a:avLst>
          </a:prstGeom>
          <a:solidFill>
            <a:srgbClr val="1E293B"/>
          </a:solidFill>
          <a:ln/>
          <a:effectLst>
            <a:outerShdw sx="100000" sy="100000" kx="0" ky="0" algn="bl" rotWithShape="0" blurRad="88900" dist="38100" dir="8100000">
              <a:srgbClr val="000000">
                <a:alpha val="12000"/>
              </a:srgbClr>
            </a:outerShdw>
          </a:effectLst>
        </p:spPr>
        <p:txBody>
          <a:bodyPr/>
          <a:p/>
        </p:txBody>
      </p:sp>
      <p:sp>
        <p:nvSpPr>
          <p:cNvPr id="12" name="Text 10"/>
          <p:cNvSpPr/>
          <p:nvPr/>
        </p:nvSpPr>
        <p:spPr>
          <a:xfrm>
            <a:off x="6446520" y="1874520"/>
            <a:ext cx="4572000" cy="320040"/>
          </a:xfrm>
          <a:prstGeom prst="rect">
            <a:avLst/>
          </a:prstGeom>
          <a:noFill/>
          <a:ln/>
        </p:spPr>
        <p:txBody>
          <a:bodyPr wrap="square" lIns="0" tIns="0" rIns="0" bIns="0" rtlCol="0" anchor="ctr"/>
          <a:lstStyle/>
          <a:p>
            <a:pPr indent="0" marL="0">
              <a:buNone/>
            </a:pPr>
            <a:r>
              <a:rPr lang="en-US" sz="1300" b="1" dirty="0">
                <a:solidFill>
                  <a:srgbClr val="5EEAD4"/>
                </a:solidFill>
                <a:latin typeface="Calibri" pitchFamily="34" charset="0"/>
                <a:ea typeface="Calibri" pitchFamily="34" charset="-122"/>
                <a:cs typeface="Calibri" pitchFamily="34" charset="-120"/>
              </a:rPr>
              <a:t>Check the formula</a:t>
            </a:r>
            <a:endParaRPr lang="en-US" sz="1300" dirty="0"/>
          </a:p>
        </p:txBody>
      </p:sp>
      <p:sp>
        <p:nvSpPr>
          <p:cNvPr id="13" name="Text 11"/>
          <p:cNvSpPr/>
          <p:nvPr/>
        </p:nvSpPr>
        <p:spPr>
          <a:xfrm>
            <a:off x="6446520" y="2286000"/>
            <a:ext cx="4937760" cy="2011680"/>
          </a:xfrm>
          <a:prstGeom prst="rect">
            <a:avLst/>
          </a:prstGeom>
          <a:noFill/>
          <a:ln/>
        </p:spPr>
        <p:txBody>
          <a:bodyPr wrap="square" lIns="0" tIns="0" rIns="0" bIns="0" rtlCol="0" anchor="ctr"/>
          <a:lstStyle/>
          <a:p>
            <a:pPr indent="0" marL="0">
              <a:lnSpc>
                <a:spcPct val="106000"/>
              </a:lnSpc>
              <a:buNone/>
            </a:pPr>
            <a:r>
              <a:rPr lang="en-US" sz="1200" dirty="0">
                <a:solidFill>
                  <a:srgbClr val="F1F5F9"/>
                </a:solidFill>
                <a:latin typeface="Consolas" pitchFamily="34" charset="0"/>
                <a:ea typeface="Consolas" pitchFamily="34" charset="-122"/>
                <a:cs typeface="Consolas" pitchFamily="34" charset="-120"/>
              </a:rPr>
              <a:t>Here's a formula from my spreadsheet:
</a:t>
            </a:r>
            <a:endParaRPr lang="en-US" sz="1200" dirty="0"/>
          </a:p>
          <a:p>
            <a:pPr indent="0" marL="0">
              <a:lnSpc>
                <a:spcPct val="106000"/>
              </a:lnSpc>
              <a:buNone/>
            </a:pPr>
            <a:r>
              <a:rPr lang="en-US" sz="1200" dirty="0">
                <a:solidFill>
                  <a:srgbClr val="F1F5F9"/>
                </a:solidFill>
                <a:latin typeface="Consolas" pitchFamily="34" charset="0"/>
                <a:ea typeface="Consolas" pitchFamily="34" charset="-122"/>
                <a:cs typeface="Consolas" pitchFamily="34" charset="-120"/>
              </a:rPr>
              <a:t>[paste the formula]. In plain English, what
</a:t>
            </a:r>
            <a:endParaRPr lang="en-US" sz="1200" dirty="0"/>
          </a:p>
          <a:p>
            <a:pPr indent="0" marL="0">
              <a:lnSpc>
                <a:spcPct val="106000"/>
              </a:lnSpc>
              <a:buNone/>
            </a:pPr>
            <a:r>
              <a:rPr lang="en-US" sz="1200" dirty="0">
                <a:solidFill>
                  <a:srgbClr val="F1F5F9"/>
                </a:solidFill>
                <a:latin typeface="Consolas" pitchFamily="34" charset="0"/>
                <a:ea typeface="Consolas" pitchFamily="34" charset="-122"/>
                <a:cs typeface="Consolas" pitchFamily="34" charset="-120"/>
              </a:rPr>
              <a:t>does it do? Keep it to one or two sentences
</a:t>
            </a:r>
            <a:endParaRPr lang="en-US" sz="1200" dirty="0"/>
          </a:p>
          <a:p>
            <a:pPr indent="0" marL="0">
              <a:lnSpc>
                <a:spcPct val="106000"/>
              </a:lnSpc>
              <a:buNone/>
            </a:pPr>
            <a:r>
              <a:rPr lang="en-US" sz="1200" dirty="0">
                <a:solidFill>
                  <a:srgbClr val="F1F5F9"/>
                </a:solidFill>
                <a:latin typeface="Consolas" pitchFamily="34" charset="0"/>
                <a:ea typeface="Consolas" pitchFamily="34" charset="-122"/>
                <a:cs typeface="Consolas" pitchFamily="34" charset="-120"/>
              </a:rPr>
              <a:t>so I can check it's doing the right thing.</a:t>
            </a:r>
            <a:endParaRPr lang="en-US" sz="1200" dirty="0"/>
          </a:p>
        </p:txBody>
      </p:sp>
      <p:sp>
        <p:nvSpPr>
          <p:cNvPr id="14" name="Shape 12"/>
          <p:cNvSpPr/>
          <p:nvPr/>
        </p:nvSpPr>
        <p:spPr>
          <a:xfrm>
            <a:off x="548640" y="4709160"/>
            <a:ext cx="11064240" cy="1371600"/>
          </a:xfrm>
          <a:prstGeom prst="roundRect">
            <a:avLst>
              <a:gd name="adj" fmla="val 6667"/>
            </a:avLst>
          </a:prstGeom>
          <a:solidFill>
            <a:srgbClr val="E7F4EC"/>
          </a:solidFill>
          <a:ln w="12700">
            <a:solidFill>
              <a:srgbClr val="0D9488"/>
            </a:solidFill>
            <a:prstDash val="solid"/>
          </a:ln>
        </p:spPr>
        <p:txBody>
          <a:bodyPr/>
          <a:p/>
        </p:txBody>
      </p:sp>
      <p:sp>
        <p:nvSpPr>
          <p:cNvPr id="15" name="Text 13"/>
          <p:cNvSpPr/>
          <p:nvPr/>
        </p:nvSpPr>
        <p:spPr>
          <a:xfrm>
            <a:off x="822960" y="4846320"/>
            <a:ext cx="10515600" cy="109728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 xml:space="preserve">The pattern:  </a:t>
            </a:r>
            <a:pPr indent="0" marL="0">
              <a:buNone/>
            </a:pPr>
            <a:r>
              <a:rPr lang="en-US" sz="1300" dirty="0">
                <a:solidFill>
                  <a:srgbClr val="1E293B"/>
                </a:solidFill>
                <a:latin typeface="Calibri" pitchFamily="34" charset="0"/>
                <a:ea typeface="Calibri" pitchFamily="34" charset="-122"/>
                <a:cs typeface="Calibri" pitchFamily="34" charset="-120"/>
              </a:rPr>
              <a:t xml:space="preserve">name your columns, name the result, ask where it goes.  </a:t>
            </a:r>
            <a:pPr indent="0" marL="0">
              <a:buNone/>
            </a:pPr>
            <a:r>
              <a:rPr lang="en-US" sz="1300" b="1" dirty="0">
                <a:solidFill>
                  <a:srgbClr val="1E293B"/>
                </a:solidFill>
                <a:latin typeface="Calibri" pitchFamily="34" charset="0"/>
                <a:ea typeface="Calibri" pitchFamily="34" charset="-122"/>
                <a:cs typeface="Calibri" pitchFamily="34" charset="-120"/>
              </a:rPr>
              <a:t>Then ALWAYS test on a few rows you can check by hand - a wrong formula is confidently wrong.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D9488"/>
          </a:solidFill>
          <a:ln/>
        </p:spPr>
        <p:txBody>
          <a:bodyPr/>
          <a:p/>
        </p:txBody>
      </p:sp>
      <p:sp>
        <p:nvSpPr>
          <p:cNvPr id="3" name="Text 1"/>
          <p:cNvSpPr/>
          <p:nvPr/>
        </p:nvSpPr>
        <p:spPr>
          <a:xfrm>
            <a:off x="822960" y="1554480"/>
            <a:ext cx="2743200" cy="1463040"/>
          </a:xfrm>
          <a:prstGeom prst="rect">
            <a:avLst/>
          </a:prstGeom>
          <a:noFill/>
          <a:ln/>
        </p:spPr>
        <p:txBody>
          <a:bodyPr wrap="square" lIns="0" tIns="0" rIns="0" bIns="0" rtlCol="0" anchor="ctr"/>
          <a:lstStyle/>
          <a:p>
            <a:pPr indent="0" marL="0">
              <a:buNone/>
            </a:pPr>
            <a:r>
              <a:rPr lang="en-US" sz="9600" b="1" dirty="0">
                <a:solidFill>
                  <a:srgbClr val="0D9488"/>
                </a:solidFill>
                <a:latin typeface="Georgia" pitchFamily="34" charset="0"/>
                <a:ea typeface="Georgia" pitchFamily="34" charset="-122"/>
                <a:cs typeface="Georgia" pitchFamily="34" charset="-120"/>
              </a:rPr>
              <a:t>05</a:t>
            </a:r>
            <a:endParaRPr lang="en-US" sz="9600" dirty="0"/>
          </a:p>
        </p:txBody>
      </p:sp>
      <p:sp>
        <p:nvSpPr>
          <p:cNvPr id="4" name="Text 2"/>
          <p:cNvSpPr/>
          <p:nvPr/>
        </p:nvSpPr>
        <p:spPr>
          <a:xfrm>
            <a:off x="868680" y="2971800"/>
            <a:ext cx="10424160" cy="10972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Structure &amp; narrative</a:t>
            </a:r>
            <a:endParaRPr lang="en-US" sz="3800" dirty="0"/>
          </a:p>
        </p:txBody>
      </p:sp>
      <p:sp>
        <p:nvSpPr>
          <p:cNvPr id="5" name="Text 3"/>
          <p:cNvSpPr/>
          <p:nvPr/>
        </p:nvSpPr>
        <p:spPr>
          <a:xfrm>
            <a:off x="914400" y="4114800"/>
            <a:ext cx="10058400" cy="1097280"/>
          </a:xfrm>
          <a:prstGeom prst="rect">
            <a:avLst/>
          </a:prstGeom>
          <a:noFill/>
          <a:ln/>
        </p:spPr>
        <p:txBody>
          <a:bodyPr wrap="square" lIns="0" tIns="0" rIns="0" bIns="0" rtlCol="0" anchor="ctr"/>
          <a:lstStyle/>
          <a:p>
            <a:pPr indent="0" marL="0">
              <a:buNone/>
            </a:pPr>
            <a:r>
              <a:rPr lang="en-US" sz="1700" dirty="0">
                <a:solidFill>
                  <a:srgbClr val="5EEAD4"/>
                </a:solidFill>
                <a:latin typeface="Calibri" pitchFamily="34" charset="0"/>
                <a:ea typeface="Calibri" pitchFamily="34" charset="-122"/>
                <a:cs typeface="Calibri" pitchFamily="34" charset="-120"/>
              </a:rPr>
              <a:t>LIVE - Exercise 4 - draft the executive summary</a:t>
            </a:r>
            <a:endParaRPr lang="en-US" sz="1700" dirty="0"/>
          </a:p>
        </p:txBody>
      </p:sp>
      <p:sp>
        <p:nvSpPr>
          <p:cNvPr id="6" name="Shape 4"/>
          <p:cNvSpPr/>
          <p:nvPr/>
        </p:nvSpPr>
        <p:spPr>
          <a:xfrm>
            <a:off x="9921240" y="384048"/>
            <a:ext cx="1783080" cy="457200"/>
          </a:xfrm>
          <a:prstGeom prst="roundRect">
            <a:avLst>
              <a:gd name="adj" fmla="val 50000"/>
            </a:avLst>
          </a:prstGeom>
          <a:solidFill>
            <a:srgbClr val="0D9488"/>
          </a:solidFill>
          <a:ln/>
        </p:spPr>
        <p:txBody>
          <a:bodyPr/>
          <a:p/>
        </p:txBody>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42-50 min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417320"/>
          </a:xfrm>
          <a:prstGeom prst="rect">
            <a:avLst/>
          </a:prstGeom>
          <a:solidFill>
            <a:srgbClr val="FFFFFF"/>
          </a:solidFill>
          <a:ln/>
        </p:spPr>
        <p:txBody>
          <a:bodyPr/>
          <a:p/>
        </p:txBody>
      </p:sp>
      <p:sp>
        <p:nvSpPr>
          <p:cNvPr id="3" name="Shape 1"/>
          <p:cNvSpPr/>
          <p:nvPr/>
        </p:nvSpPr>
        <p:spPr>
          <a:xfrm>
            <a:off x="0" y="1417320"/>
            <a:ext cx="12161520" cy="45720"/>
          </a:xfrm>
          <a:prstGeom prst="rect">
            <a:avLst/>
          </a:prstGeom>
          <a:solidFill>
            <a:srgbClr val="0D9488"/>
          </a:solidFill>
          <a:ln/>
        </p:spPr>
        <p:txBody>
          <a:bodyPr/>
          <a:p/>
        </p:txBody>
      </p:sp>
      <p:sp>
        <p:nvSpPr>
          <p:cNvPr id="4" name="Text 2"/>
          <p:cNvSpPr/>
          <p:nvPr/>
        </p:nvSpPr>
        <p:spPr>
          <a:xfrm>
            <a:off x="548640" y="365760"/>
            <a:ext cx="86868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EXERCISE 4 - DO IT TOGETHER</a:t>
            </a:r>
            <a:endParaRPr lang="en-US" sz="1200" dirty="0"/>
          </a:p>
        </p:txBody>
      </p:sp>
      <p:sp>
        <p:nvSpPr>
          <p:cNvPr id="5" name="Text 3"/>
          <p:cNvSpPr/>
          <p:nvPr/>
        </p:nvSpPr>
        <p:spPr>
          <a:xfrm>
            <a:off x="548640" y="658368"/>
            <a:ext cx="9326880" cy="73152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Give it the numbers and the audience</a:t>
            </a:r>
            <a:endParaRPr lang="en-US" sz="2700" dirty="0"/>
          </a:p>
        </p:txBody>
      </p:sp>
      <p:sp>
        <p:nvSpPr>
          <p:cNvPr id="6" name="Shape 4"/>
          <p:cNvSpPr/>
          <p:nvPr/>
        </p:nvSpPr>
        <p:spPr>
          <a:xfrm>
            <a:off x="9921240" y="384048"/>
            <a:ext cx="1783080" cy="457200"/>
          </a:xfrm>
          <a:prstGeom prst="roundRect">
            <a:avLst>
              <a:gd name="adj" fmla="val 50000"/>
            </a:avLst>
          </a:prstGeom>
          <a:solidFill>
            <a:srgbClr val="E6F4F2"/>
          </a:solidFill>
          <a:ln/>
        </p:spPr>
        <p:txBody>
          <a:bodyPr/>
          <a:p/>
        </p:txBody>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42-50 min</a:t>
            </a:r>
            <a:endParaRPr lang="en-US" sz="1200" dirty="0"/>
          </a:p>
        </p:txBody>
      </p:sp>
      <p:sp>
        <p:nvSpPr>
          <p:cNvPr id="8" name="Shape 6"/>
          <p:cNvSpPr/>
          <p:nvPr/>
        </p:nvSpPr>
        <p:spPr>
          <a:xfrm>
            <a:off x="548640" y="1691640"/>
            <a:ext cx="11064240" cy="2468880"/>
          </a:xfrm>
          <a:prstGeom prst="roundRect">
            <a:avLst>
              <a:gd name="adj" fmla="val 3704"/>
            </a:avLst>
          </a:prstGeom>
          <a:solidFill>
            <a:srgbClr val="1E293B"/>
          </a:solidFill>
          <a:ln/>
          <a:effectLst>
            <a:outerShdw sx="100000" sy="100000" kx="0" ky="0" algn="bl" rotWithShape="0" blurRad="88900" dist="38100" dir="8100000">
              <a:srgbClr val="000000">
                <a:alpha val="12000"/>
              </a:srgbClr>
            </a:outerShdw>
          </a:effectLst>
        </p:spPr>
        <p:txBody>
          <a:bodyPr/>
          <a:p/>
        </p:txBody>
      </p:sp>
      <p:sp>
        <p:nvSpPr>
          <p:cNvPr id="9" name="Shape 7"/>
          <p:cNvSpPr/>
          <p:nvPr/>
        </p:nvSpPr>
        <p:spPr>
          <a:xfrm>
            <a:off x="548640" y="1691640"/>
            <a:ext cx="109728" cy="2468880"/>
          </a:xfrm>
          <a:prstGeom prst="rect">
            <a:avLst/>
          </a:prstGeom>
          <a:solidFill>
            <a:srgbClr val="0D9488"/>
          </a:solidFill>
          <a:ln/>
        </p:spPr>
        <p:txBody>
          <a:bodyPr/>
          <a:p/>
        </p:txBody>
      </p:sp>
      <p:sp>
        <p:nvSpPr>
          <p:cNvPr id="10" name="Text 8"/>
          <p:cNvSpPr/>
          <p:nvPr/>
        </p:nvSpPr>
        <p:spPr>
          <a:xfrm>
            <a:off x="868680" y="1874520"/>
            <a:ext cx="10515600" cy="2194560"/>
          </a:xfrm>
          <a:prstGeom prst="rect">
            <a:avLst/>
          </a:prstGeom>
          <a:noFill/>
          <a:ln/>
        </p:spPr>
        <p:txBody>
          <a:bodyPr wrap="square" lIns="0" tIns="0" rIns="0" bIns="0" rtlCol="0" anchor="ctr"/>
          <a:lstStyle/>
          <a:p>
            <a:pPr indent="0" marL="0">
              <a:lnSpc>
                <a:spcPct val="108000"/>
              </a:lnSpc>
              <a:buNone/>
            </a:pPr>
            <a:r>
              <a:rPr lang="en-US" sz="1300" dirty="0">
                <a:solidFill>
                  <a:srgbClr val="F1F5F9"/>
                </a:solidFill>
                <a:latin typeface="Consolas" pitchFamily="34" charset="0"/>
                <a:ea typeface="Consolas" pitchFamily="34" charset="-122"/>
                <a:cs typeface="Consolas" pitchFamily="34" charset="-120"/>
              </a:rPr>
              <a:t>Write a 4-sentence executive summary for a monthly sales report.
</a:t>
            </a:r>
            <a:endParaRPr lang="en-US" sz="1300" dirty="0"/>
          </a:p>
          <a:p>
            <a:pPr indent="0" marL="0">
              <a:lnSpc>
                <a:spcPct val="108000"/>
              </a:lnSpc>
              <a:buNone/>
            </a:pPr>
            <a:r>
              <a:rPr lang="en-US" sz="1300" dirty="0">
                <a:solidFill>
                  <a:srgbClr val="F1F5F9"/>
                </a:solidFill>
                <a:latin typeface="Consolas" pitchFamily="34" charset="0"/>
                <a:ea typeface="Consolas" pitchFamily="34" charset="-122"/>
                <a:cs typeface="Consolas" pitchFamily="34" charset="-120"/>
              </a:rPr>
              <a:t>Audience: our VP of Sales - plain, confident, no jargon.
</a:t>
            </a:r>
            <a:endParaRPr lang="en-US" sz="1300" dirty="0"/>
          </a:p>
          <a:p>
            <a:pPr indent="0" marL="0">
              <a:lnSpc>
                <a:spcPct val="108000"/>
              </a:lnSpc>
              <a:buNone/>
            </a:pPr>
            <a:r>
              <a:rPr lang="en-US" sz="1300" dirty="0">
                <a:solidFill>
                  <a:srgbClr val="F1F5F9"/>
                </a:solidFill>
                <a:latin typeface="Consolas" pitchFamily="34" charset="0"/>
                <a:ea typeface="Consolas" pitchFamily="34" charset="-122"/>
                <a:cs typeface="Consolas" pitchFamily="34" charset="-120"/>
              </a:rPr>
              <a:t>Here are the facts: total revenue $X (up Y% vs last month); top category
</a:t>
            </a:r>
            <a:endParaRPr lang="en-US" sz="1300" dirty="0"/>
          </a:p>
          <a:p>
            <a:pPr indent="0" marL="0">
              <a:lnSpc>
                <a:spcPct val="108000"/>
              </a:lnSpc>
              <a:buNone/>
            </a:pPr>
            <a:r>
              <a:rPr lang="en-US" sz="1300" dirty="0">
                <a:solidFill>
                  <a:srgbClr val="F1F5F9"/>
                </a:solidFill>
                <a:latin typeface="Consolas" pitchFamily="34" charset="0"/>
                <a:ea typeface="Consolas" pitchFamily="34" charset="-122"/>
                <a:cs typeface="Consolas" pitchFamily="34" charset="-120"/>
              </a:rPr>
              <a:t>was Z; the West region lagged at $W. Lead with the headline number,
</a:t>
            </a:r>
            <a:endParaRPr lang="en-US" sz="1300" dirty="0"/>
          </a:p>
          <a:p>
            <a:pPr indent="0" marL="0">
              <a:lnSpc>
                <a:spcPct val="108000"/>
              </a:lnSpc>
              <a:buNone/>
            </a:pPr>
            <a:r>
              <a:rPr lang="en-US" sz="1300" dirty="0">
                <a:solidFill>
                  <a:srgbClr val="F1F5F9"/>
                </a:solidFill>
                <a:latin typeface="Consolas" pitchFamily="34" charset="0"/>
                <a:ea typeface="Consolas" pitchFamily="34" charset="-122"/>
                <a:cs typeface="Consolas" pitchFamily="34" charset="-120"/>
              </a:rPr>
              <a:t>then the driver, then the one thing to watch. Don't invent any numbers.</a:t>
            </a:r>
            <a:endParaRPr lang="en-US" sz="1300" dirty="0"/>
          </a:p>
        </p:txBody>
      </p:sp>
      <p:sp>
        <p:nvSpPr>
          <p:cNvPr id="11" name="Shape 9"/>
          <p:cNvSpPr/>
          <p:nvPr/>
        </p:nvSpPr>
        <p:spPr>
          <a:xfrm>
            <a:off x="548640" y="4343400"/>
            <a:ext cx="3566160"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12" name="Text 10"/>
          <p:cNvSpPr/>
          <p:nvPr/>
        </p:nvSpPr>
        <p:spPr>
          <a:xfrm>
            <a:off x="777240" y="4526280"/>
            <a:ext cx="3200400" cy="640080"/>
          </a:xfrm>
          <a:prstGeom prst="rect">
            <a:avLst/>
          </a:prstGeom>
          <a:noFill/>
          <a:ln/>
        </p:spPr>
        <p:txBody>
          <a:bodyPr wrap="square" lIns="0" tIns="0" rIns="0" bIns="0" rtlCol="0" anchor="ctr"/>
          <a:lstStyle/>
          <a:p>
            <a:pPr indent="0" marL="0">
              <a:buNone/>
            </a:pPr>
            <a:r>
              <a:rPr lang="en-US" sz="1450" b="1" dirty="0">
                <a:solidFill>
                  <a:srgbClr val="0D9488"/>
                </a:solidFill>
                <a:latin typeface="Calibri" pitchFamily="34" charset="0"/>
                <a:ea typeface="Calibri" pitchFamily="34" charset="-122"/>
                <a:cs typeface="Calibri" pitchFamily="34" charset="-120"/>
              </a:rPr>
              <a:t>Feed facts, not files</a:t>
            </a:r>
            <a:endParaRPr lang="en-US" sz="1450" dirty="0"/>
          </a:p>
        </p:txBody>
      </p:sp>
      <p:sp>
        <p:nvSpPr>
          <p:cNvPr id="13" name="Text 11"/>
          <p:cNvSpPr/>
          <p:nvPr/>
        </p:nvSpPr>
        <p:spPr>
          <a:xfrm>
            <a:off x="777240" y="5120640"/>
            <a:ext cx="3200400" cy="7315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Paste the numbers you verified - not raw, sensitive data</a:t>
            </a:r>
            <a:endParaRPr lang="en-US" sz="1250" dirty="0"/>
          </a:p>
        </p:txBody>
      </p:sp>
      <p:sp>
        <p:nvSpPr>
          <p:cNvPr id="14" name="Shape 12"/>
          <p:cNvSpPr/>
          <p:nvPr/>
        </p:nvSpPr>
        <p:spPr>
          <a:xfrm>
            <a:off x="4325112" y="4343400"/>
            <a:ext cx="3566160"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15" name="Text 13"/>
          <p:cNvSpPr/>
          <p:nvPr/>
        </p:nvSpPr>
        <p:spPr>
          <a:xfrm>
            <a:off x="4553712" y="4526280"/>
            <a:ext cx="3200400" cy="640080"/>
          </a:xfrm>
          <a:prstGeom prst="rect">
            <a:avLst/>
          </a:prstGeom>
          <a:noFill/>
          <a:ln/>
        </p:spPr>
        <p:txBody>
          <a:bodyPr wrap="square" lIns="0" tIns="0" rIns="0" bIns="0" rtlCol="0" anchor="ctr"/>
          <a:lstStyle/>
          <a:p>
            <a:pPr indent="0" marL="0">
              <a:buNone/>
            </a:pPr>
            <a:r>
              <a:rPr lang="en-US" sz="1450" b="1" dirty="0">
                <a:solidFill>
                  <a:srgbClr val="0D9488"/>
                </a:solidFill>
                <a:latin typeface="Calibri" pitchFamily="34" charset="0"/>
                <a:ea typeface="Calibri" pitchFamily="34" charset="-122"/>
                <a:cs typeface="Calibri" pitchFamily="34" charset="-120"/>
              </a:rPr>
              <a:t>Name the audience</a:t>
            </a:r>
            <a:endParaRPr lang="en-US" sz="1450" dirty="0"/>
          </a:p>
        </p:txBody>
      </p:sp>
      <p:sp>
        <p:nvSpPr>
          <p:cNvPr id="16" name="Text 14"/>
          <p:cNvSpPr/>
          <p:nvPr/>
        </p:nvSpPr>
        <p:spPr>
          <a:xfrm>
            <a:off x="4553712" y="5120640"/>
            <a:ext cx="3200400" cy="7315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'For a VP' reads very differently from 'for the ops team'</a:t>
            </a:r>
            <a:endParaRPr lang="en-US" sz="1250" dirty="0"/>
          </a:p>
        </p:txBody>
      </p:sp>
      <p:sp>
        <p:nvSpPr>
          <p:cNvPr id="17" name="Shape 15"/>
          <p:cNvSpPr/>
          <p:nvPr/>
        </p:nvSpPr>
        <p:spPr>
          <a:xfrm>
            <a:off x="8101584" y="4343400"/>
            <a:ext cx="3566160"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18" name="Text 16"/>
          <p:cNvSpPr/>
          <p:nvPr/>
        </p:nvSpPr>
        <p:spPr>
          <a:xfrm>
            <a:off x="8330184" y="4526280"/>
            <a:ext cx="3200400" cy="640080"/>
          </a:xfrm>
          <a:prstGeom prst="rect">
            <a:avLst/>
          </a:prstGeom>
          <a:noFill/>
          <a:ln/>
        </p:spPr>
        <p:txBody>
          <a:bodyPr wrap="square" lIns="0" tIns="0" rIns="0" bIns="0" rtlCol="0" anchor="ctr"/>
          <a:lstStyle/>
          <a:p>
            <a:pPr indent="0" marL="0">
              <a:buNone/>
            </a:pPr>
            <a:r>
              <a:rPr lang="en-US" sz="1450" b="1" dirty="0">
                <a:solidFill>
                  <a:srgbClr val="0D9488"/>
                </a:solidFill>
                <a:latin typeface="Calibri" pitchFamily="34" charset="0"/>
                <a:ea typeface="Calibri" pitchFamily="34" charset="-122"/>
                <a:cs typeface="Calibri" pitchFamily="34" charset="-120"/>
              </a:rPr>
              <a:t>Forbid invention</a:t>
            </a:r>
            <a:endParaRPr lang="en-US" sz="1450" dirty="0"/>
          </a:p>
        </p:txBody>
      </p:sp>
      <p:sp>
        <p:nvSpPr>
          <p:cNvPr id="19" name="Text 17"/>
          <p:cNvSpPr/>
          <p:nvPr/>
        </p:nvSpPr>
        <p:spPr>
          <a:xfrm>
            <a:off x="8330184" y="5120640"/>
            <a:ext cx="3200400" cy="7315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'Don't invent numbers' stops confident fabrication</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Bonus Round">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417320"/>
          </a:xfrm>
          <a:prstGeom prst="rect">
            <a:avLst/>
          </a:prstGeom>
          <a:solidFill>
            <a:srgbClr val="FFFFFF"/>
          </a:solidFill>
          <a:ln/>
        </p:spPr>
        <p:txBody>
          <a:bodyPr/>
          <a:p/>
        </p:txBody>
      </p:sp>
      <p:sp>
        <p:nvSpPr>
          <p:cNvPr id="3" name="Shape 1"/>
          <p:cNvSpPr/>
          <p:nvPr/>
        </p:nvSpPr>
        <p:spPr>
          <a:xfrm>
            <a:off x="0" y="1417320"/>
            <a:ext cx="12161520" cy="45720"/>
          </a:xfrm>
          <a:prstGeom prst="rect">
            <a:avLst/>
          </a:prstGeom>
          <a:solidFill>
            <a:srgbClr val="0D9488"/>
          </a:solidFill>
          <a:ln/>
        </p:spPr>
        <p:txBody>
          <a:bodyPr/>
          <a:p/>
        </p:txBody>
      </p:sp>
      <p:sp>
        <p:nvSpPr>
          <p:cNvPr id="4" name="Text 2"/>
          <p:cNvSpPr/>
          <p:nvPr/>
        </p:nvSpPr>
        <p:spPr>
          <a:xfrm>
            <a:off x="548640" y="365760"/>
            <a:ext cx="86868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BONUS ROUND</a:t>
            </a:r>
            <a:endParaRPr lang="en-US" sz="1200" dirty="0"/>
          </a:p>
        </p:txBody>
      </p:sp>
      <p:sp>
        <p:nvSpPr>
          <p:cNvPr id="5" name="Text 3"/>
          <p:cNvSpPr/>
          <p:nvPr/>
        </p:nvSpPr>
        <p:spPr>
          <a:xfrm>
            <a:off x="548640" y="658368"/>
            <a:ext cx="9326880" cy="73152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Only if we're ahead of the clock</a:t>
            </a:r>
            <a:endParaRPr lang="en-US" sz="2700" dirty="0"/>
          </a:p>
        </p:txBody>
      </p:sp>
      <p:sp>
        <p:nvSpPr>
          <p:cNvPr id="6" name="Shape 4"/>
          <p:cNvSpPr/>
          <p:nvPr/>
        </p:nvSpPr>
        <p:spPr>
          <a:xfrm>
            <a:off x="9921240" y="384048"/>
            <a:ext cx="1783080" cy="457200"/>
          </a:xfrm>
          <a:prstGeom prst="roundRect">
            <a:avLst>
              <a:gd name="adj" fmla="val 50000"/>
            </a:avLst>
          </a:prstGeom>
          <a:solidFill>
            <a:srgbClr val="E6F4F2"/>
          </a:solidFill>
          <a:ln/>
        </p:spPr>
        <p:txBody>
          <a:bodyPr/>
          <a:p/>
        </p:txBody>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spare time</a:t>
            </a:r>
            <a:endParaRPr lang="en-US" sz="1200" dirty="0"/>
          </a:p>
        </p:txBody>
      </p:sp>
      <p:sp>
        <p:nvSpPr>
          <p:cNvPr id="8" name="Text 6"/>
          <p:cNvSpPr/>
          <p:nvPr/>
        </p:nvSpPr>
        <p:spPr>
          <a:xfrm>
            <a:off x="548640" y="1691640"/>
            <a:ext cx="10972800" cy="4572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Finished early? Run any of these live - the full set of bonus prompts is in Workbook Appendix D.</a:t>
            </a:r>
            <a:endParaRPr lang="en-US" sz="1500" dirty="0"/>
          </a:p>
        </p:txBody>
      </p:sp>
      <p:sp>
        <p:nvSpPr>
          <p:cNvPr id="9" name="Shape 7"/>
          <p:cNvSpPr/>
          <p:nvPr/>
        </p:nvSpPr>
        <p:spPr>
          <a:xfrm>
            <a:off x="548640" y="2377440"/>
            <a:ext cx="3566160" cy="3108960"/>
          </a:xfrm>
          <a:prstGeom prst="roundRect">
            <a:avLst>
              <a:gd name="adj" fmla="val 2941"/>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10" name="Shape 8"/>
          <p:cNvSpPr/>
          <p:nvPr/>
        </p:nvSpPr>
        <p:spPr>
          <a:xfrm>
            <a:off x="822960" y="2651760"/>
            <a:ext cx="502920" cy="502920"/>
          </a:xfrm>
          <a:prstGeom prst="ellipse">
            <a:avLst/>
          </a:prstGeom>
          <a:solidFill>
            <a:srgbClr val="0D9488"/>
          </a:solidFill>
          <a:ln/>
        </p:spPr>
        <p:txBody>
          <a:bodyPr/>
          <a:p/>
        </p:txBody>
      </p:sp>
      <p:sp>
        <p:nvSpPr>
          <p:cNvPr id="11" name="Text 9"/>
          <p:cNvSpPr/>
          <p:nvPr/>
        </p:nvSpPr>
        <p:spPr>
          <a:xfrm>
            <a:off x="822960" y="2651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10"/>
          <p:cNvSpPr/>
          <p:nvPr/>
        </p:nvSpPr>
        <p:spPr>
          <a:xfrm>
            <a:off x="822960" y="3337560"/>
            <a:ext cx="3108960" cy="64008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Clean your own data</a:t>
            </a:r>
            <a:endParaRPr lang="en-US" sz="1600" dirty="0"/>
          </a:p>
        </p:txBody>
      </p:sp>
      <p:sp>
        <p:nvSpPr>
          <p:cNvPr id="13" name="Text 11"/>
          <p:cNvSpPr/>
          <p:nvPr/>
        </p:nvSpPr>
        <p:spPr>
          <a:xfrm>
            <a:off x="822960" y="3977640"/>
            <a:ext cx="3108960" cy="13716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Re-run the cleanup prompt on a messy column from your real work.</a:t>
            </a:r>
            <a:endParaRPr lang="en-US" sz="1300" dirty="0"/>
          </a:p>
        </p:txBody>
      </p:sp>
      <p:sp>
        <p:nvSpPr>
          <p:cNvPr id="14" name="Shape 12"/>
          <p:cNvSpPr/>
          <p:nvPr/>
        </p:nvSpPr>
        <p:spPr>
          <a:xfrm>
            <a:off x="4325112" y="2377440"/>
            <a:ext cx="3566160" cy="3108960"/>
          </a:xfrm>
          <a:prstGeom prst="roundRect">
            <a:avLst>
              <a:gd name="adj" fmla="val 2941"/>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15" name="Shape 13"/>
          <p:cNvSpPr/>
          <p:nvPr/>
        </p:nvSpPr>
        <p:spPr>
          <a:xfrm>
            <a:off x="4599432" y="2651760"/>
            <a:ext cx="502920" cy="502920"/>
          </a:xfrm>
          <a:prstGeom prst="ellipse">
            <a:avLst/>
          </a:prstGeom>
          <a:solidFill>
            <a:srgbClr val="0D9488"/>
          </a:solidFill>
          <a:ln/>
        </p:spPr>
        <p:txBody>
          <a:bodyPr/>
          <a:p/>
        </p:txBody>
      </p:sp>
      <p:sp>
        <p:nvSpPr>
          <p:cNvPr id="16" name="Text 14"/>
          <p:cNvSpPr/>
          <p:nvPr/>
        </p:nvSpPr>
        <p:spPr>
          <a:xfrm>
            <a:off x="4599432" y="2651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5"/>
          <p:cNvSpPr/>
          <p:nvPr/>
        </p:nvSpPr>
        <p:spPr>
          <a:xfrm>
            <a:off x="4599432" y="3337560"/>
            <a:ext cx="3108960" cy="64008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Rank the categories</a:t>
            </a:r>
            <a:endParaRPr lang="en-US" sz="1600" dirty="0"/>
          </a:p>
        </p:txBody>
      </p:sp>
      <p:sp>
        <p:nvSpPr>
          <p:cNvPr id="18" name="Text 16"/>
          <p:cNvSpPr/>
          <p:nvPr/>
        </p:nvSpPr>
        <p:spPr>
          <a:xfrm>
            <a:off x="4599432" y="3977640"/>
            <a:ext cx="3108960" cy="13716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Describe a tougher result - ranked totals - and let AI pick the formula.</a:t>
            </a:r>
            <a:endParaRPr lang="en-US" sz="1300" dirty="0"/>
          </a:p>
        </p:txBody>
      </p:sp>
      <p:sp>
        <p:nvSpPr>
          <p:cNvPr id="19" name="Shape 17"/>
          <p:cNvSpPr/>
          <p:nvPr/>
        </p:nvSpPr>
        <p:spPr>
          <a:xfrm>
            <a:off x="8101584" y="2377440"/>
            <a:ext cx="3566160" cy="3108960"/>
          </a:xfrm>
          <a:prstGeom prst="roundRect">
            <a:avLst>
              <a:gd name="adj" fmla="val 2941"/>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txBody>
          <a:bodyPr/>
          <a:p/>
        </p:txBody>
      </p:sp>
      <p:sp>
        <p:nvSpPr>
          <p:cNvPr id="20" name="Shape 18"/>
          <p:cNvSpPr/>
          <p:nvPr/>
        </p:nvSpPr>
        <p:spPr>
          <a:xfrm>
            <a:off x="8375904" y="2651760"/>
            <a:ext cx="502920" cy="502920"/>
          </a:xfrm>
          <a:prstGeom prst="ellipse">
            <a:avLst/>
          </a:prstGeom>
          <a:solidFill>
            <a:srgbClr val="0D9488"/>
          </a:solidFill>
          <a:ln/>
        </p:spPr>
        <p:txBody>
          <a:bodyPr/>
          <a:p/>
        </p:txBody>
      </p:sp>
      <p:sp>
        <p:nvSpPr>
          <p:cNvPr id="21" name="Text 19"/>
          <p:cNvSpPr/>
          <p:nvPr/>
        </p:nvSpPr>
        <p:spPr>
          <a:xfrm>
            <a:off x="8375904" y="2651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20"/>
          <p:cNvSpPr/>
          <p:nvPr/>
        </p:nvSpPr>
        <p:spPr>
          <a:xfrm>
            <a:off x="8375904" y="3337560"/>
            <a:ext cx="3108960" cy="64008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Switch the audience</a:t>
            </a:r>
            <a:endParaRPr lang="en-US" sz="1600" dirty="0"/>
          </a:p>
        </p:txBody>
      </p:sp>
      <p:sp>
        <p:nvSpPr>
          <p:cNvPr id="23" name="Text 21"/>
          <p:cNvSpPr/>
          <p:nvPr/>
        </p:nvSpPr>
        <p:spPr>
          <a:xfrm>
            <a:off x="8375904" y="3977640"/>
            <a:ext cx="3108960" cy="13716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Re-run the summary for a different reader (a CFO) and watch the tone change.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417320"/>
          </a:xfrm>
          <a:prstGeom prst="rect">
            <a:avLst/>
          </a:prstGeom>
          <a:solidFill>
            <a:srgbClr val="FFFFFF"/>
          </a:solidFill>
          <a:ln/>
        </p:spPr>
      </p:sp>
      <p:sp>
        <p:nvSpPr>
          <p:cNvPr id="3" name="Shape 1"/>
          <p:cNvSpPr/>
          <p:nvPr/>
        </p:nvSpPr>
        <p:spPr>
          <a:xfrm>
            <a:off x="0" y="1417320"/>
            <a:ext cx="12161520" cy="45720"/>
          </a:xfrm>
          <a:prstGeom prst="rect">
            <a:avLst/>
          </a:prstGeom>
          <a:solidFill>
            <a:srgbClr val="0D9488"/>
          </a:solidFill>
          <a:ln/>
        </p:spPr>
      </p:sp>
      <p:sp>
        <p:nvSpPr>
          <p:cNvPr id="4" name="Text 2"/>
          <p:cNvSpPr/>
          <p:nvPr/>
        </p:nvSpPr>
        <p:spPr>
          <a:xfrm>
            <a:off x="548640" y="365760"/>
            <a:ext cx="86868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MAKE IT REPEATABLE</a:t>
            </a:r>
            <a:endParaRPr lang="en-US" sz="1200" dirty="0"/>
          </a:p>
        </p:txBody>
      </p:sp>
      <p:sp>
        <p:nvSpPr>
          <p:cNvPr id="5" name="Text 3"/>
          <p:cNvSpPr/>
          <p:nvPr/>
        </p:nvSpPr>
        <p:spPr>
          <a:xfrm>
            <a:off x="548640" y="658368"/>
            <a:ext cx="9326880" cy="73152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Reuse the prompt, not just the answer</a:t>
            </a:r>
            <a:endParaRPr lang="en-US" sz="2700" dirty="0"/>
          </a:p>
        </p:txBody>
      </p:sp>
      <p:sp>
        <p:nvSpPr>
          <p:cNvPr id="6" name="Shape 4"/>
          <p:cNvSpPr/>
          <p:nvPr/>
        </p:nvSpPr>
        <p:spPr>
          <a:xfrm>
            <a:off x="9921240" y="384048"/>
            <a:ext cx="1783080" cy="457200"/>
          </a:xfrm>
          <a:prstGeom prst="roundRect">
            <a:avLst>
              <a:gd name="adj" fmla="val 50000"/>
            </a:avLst>
          </a:prstGeom>
          <a:solidFill>
            <a:srgbClr val="E6F4F2"/>
          </a:solidFill>
          <a:ln/>
        </p:spPr>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50-52 min</a:t>
            </a:r>
            <a:endParaRPr lang="en-US" sz="1200" dirty="0"/>
          </a:p>
        </p:txBody>
      </p:sp>
      <p:sp>
        <p:nvSpPr>
          <p:cNvPr id="8" name="Text 6"/>
          <p:cNvSpPr/>
          <p:nvPr/>
        </p:nvSpPr>
        <p:spPr>
          <a:xfrm>
            <a:off x="548640" y="1691640"/>
            <a:ext cx="10972800" cy="4572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real win isn't one report - it's a prompt you paste every month and get the same format back.</a:t>
            </a:r>
            <a:endParaRPr lang="en-US" sz="1500" dirty="0"/>
          </a:p>
        </p:txBody>
      </p:sp>
      <p:sp>
        <p:nvSpPr>
          <p:cNvPr id="9" name="Shape 7"/>
          <p:cNvSpPr/>
          <p:nvPr/>
        </p:nvSpPr>
        <p:spPr>
          <a:xfrm>
            <a:off x="548640" y="2377440"/>
            <a:ext cx="3566160" cy="3108960"/>
          </a:xfrm>
          <a:prstGeom prst="roundRect">
            <a:avLst>
              <a:gd name="adj" fmla="val 2941"/>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sp>
      <p:sp>
        <p:nvSpPr>
          <p:cNvPr id="10" name="Shape 8"/>
          <p:cNvSpPr/>
          <p:nvPr/>
        </p:nvSpPr>
        <p:spPr>
          <a:xfrm>
            <a:off x="822960" y="2651760"/>
            <a:ext cx="502920" cy="502920"/>
          </a:xfrm>
          <a:prstGeom prst="ellipse">
            <a:avLst/>
          </a:prstGeom>
          <a:solidFill>
            <a:srgbClr val="0D9488"/>
          </a:solidFill>
          <a:ln/>
        </p:spPr>
      </p:sp>
      <p:sp>
        <p:nvSpPr>
          <p:cNvPr id="11" name="Text 9"/>
          <p:cNvSpPr/>
          <p:nvPr/>
        </p:nvSpPr>
        <p:spPr>
          <a:xfrm>
            <a:off x="822960" y="2651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10"/>
          <p:cNvSpPr/>
          <p:nvPr/>
        </p:nvSpPr>
        <p:spPr>
          <a:xfrm>
            <a:off x="822960" y="3337560"/>
            <a:ext cx="3108960" cy="64008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Save your prompts</a:t>
            </a:r>
            <a:endParaRPr lang="en-US" sz="1600" dirty="0"/>
          </a:p>
        </p:txBody>
      </p:sp>
      <p:sp>
        <p:nvSpPr>
          <p:cNvPr id="13" name="Text 11"/>
          <p:cNvSpPr/>
          <p:nvPr/>
        </p:nvSpPr>
        <p:spPr>
          <a:xfrm>
            <a:off x="822960" y="3977640"/>
            <a:ext cx="3108960" cy="13716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Keep the cleanup, match, formula &amp; summary prompts in one note. They are your templates.</a:t>
            </a:r>
            <a:endParaRPr lang="en-US" sz="1300" dirty="0"/>
          </a:p>
        </p:txBody>
      </p:sp>
      <p:sp>
        <p:nvSpPr>
          <p:cNvPr id="14" name="Shape 12"/>
          <p:cNvSpPr/>
          <p:nvPr/>
        </p:nvSpPr>
        <p:spPr>
          <a:xfrm>
            <a:off x="4325112" y="2377440"/>
            <a:ext cx="3566160" cy="3108960"/>
          </a:xfrm>
          <a:prstGeom prst="roundRect">
            <a:avLst>
              <a:gd name="adj" fmla="val 2941"/>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sp>
      <p:sp>
        <p:nvSpPr>
          <p:cNvPr id="15" name="Shape 13"/>
          <p:cNvSpPr/>
          <p:nvPr/>
        </p:nvSpPr>
        <p:spPr>
          <a:xfrm>
            <a:off x="4599432" y="2651760"/>
            <a:ext cx="502920" cy="502920"/>
          </a:xfrm>
          <a:prstGeom prst="ellipse">
            <a:avLst/>
          </a:prstGeom>
          <a:solidFill>
            <a:srgbClr val="0D9488"/>
          </a:solidFill>
          <a:ln/>
        </p:spPr>
      </p:sp>
      <p:sp>
        <p:nvSpPr>
          <p:cNvPr id="16" name="Text 14"/>
          <p:cNvSpPr/>
          <p:nvPr/>
        </p:nvSpPr>
        <p:spPr>
          <a:xfrm>
            <a:off x="4599432" y="2651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5"/>
          <p:cNvSpPr/>
          <p:nvPr/>
        </p:nvSpPr>
        <p:spPr>
          <a:xfrm>
            <a:off x="4599432" y="3337560"/>
            <a:ext cx="3108960" cy="64008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Lock the format</a:t>
            </a:r>
            <a:endParaRPr lang="en-US" sz="1600" dirty="0"/>
          </a:p>
        </p:txBody>
      </p:sp>
      <p:sp>
        <p:nvSpPr>
          <p:cNvPr id="18" name="Text 16"/>
          <p:cNvSpPr/>
          <p:nvPr/>
        </p:nvSpPr>
        <p:spPr>
          <a:xfrm>
            <a:off x="4599432" y="3977640"/>
            <a:ext cx="3108960" cy="13716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Add 'use the same columns and chart type as last month' so recurring reports match.</a:t>
            </a:r>
            <a:endParaRPr lang="en-US" sz="1300" dirty="0"/>
          </a:p>
        </p:txBody>
      </p:sp>
      <p:sp>
        <p:nvSpPr>
          <p:cNvPr id="19" name="Shape 17"/>
          <p:cNvSpPr/>
          <p:nvPr/>
        </p:nvSpPr>
        <p:spPr>
          <a:xfrm>
            <a:off x="8101584" y="2377440"/>
            <a:ext cx="3566160" cy="3108960"/>
          </a:xfrm>
          <a:prstGeom prst="roundRect">
            <a:avLst>
              <a:gd name="adj" fmla="val 2941"/>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sp>
      <p:sp>
        <p:nvSpPr>
          <p:cNvPr id="20" name="Shape 18"/>
          <p:cNvSpPr/>
          <p:nvPr/>
        </p:nvSpPr>
        <p:spPr>
          <a:xfrm>
            <a:off x="8375904" y="2651760"/>
            <a:ext cx="502920" cy="502920"/>
          </a:xfrm>
          <a:prstGeom prst="ellipse">
            <a:avLst/>
          </a:prstGeom>
          <a:solidFill>
            <a:srgbClr val="0D9488"/>
          </a:solidFill>
          <a:ln/>
        </p:spPr>
      </p:sp>
      <p:sp>
        <p:nvSpPr>
          <p:cNvPr id="21" name="Text 19"/>
          <p:cNvSpPr/>
          <p:nvPr/>
        </p:nvSpPr>
        <p:spPr>
          <a:xfrm>
            <a:off x="8375904" y="2651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20"/>
          <p:cNvSpPr/>
          <p:nvPr/>
        </p:nvSpPr>
        <p:spPr>
          <a:xfrm>
            <a:off x="8375904" y="3337560"/>
            <a:ext cx="3108960" cy="64008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Build a 'house style'</a:t>
            </a:r>
            <a:endParaRPr lang="en-US" sz="1600" dirty="0"/>
          </a:p>
        </p:txBody>
      </p:sp>
      <p:sp>
        <p:nvSpPr>
          <p:cNvPr id="23" name="Text 21"/>
          <p:cNvSpPr/>
          <p:nvPr/>
        </p:nvSpPr>
        <p:spPr>
          <a:xfrm>
            <a:off x="8375904" y="3977640"/>
            <a:ext cx="3108960" cy="137160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One prompt that sets tone, length &amp; layout - paste it before every drafting task.</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D9488"/>
          </a:solidFill>
          <a:ln/>
        </p:spPr>
      </p:sp>
      <p:sp>
        <p:nvSpPr>
          <p:cNvPr id="3" name="Text 1"/>
          <p:cNvSpPr/>
          <p:nvPr/>
        </p:nvSpPr>
        <p:spPr>
          <a:xfrm>
            <a:off x="822960" y="1554480"/>
            <a:ext cx="2743200" cy="1463040"/>
          </a:xfrm>
          <a:prstGeom prst="rect">
            <a:avLst/>
          </a:prstGeom>
          <a:noFill/>
          <a:ln/>
        </p:spPr>
        <p:txBody>
          <a:bodyPr wrap="square" lIns="0" tIns="0" rIns="0" bIns="0" rtlCol="0" anchor="ctr"/>
          <a:lstStyle/>
          <a:p>
            <a:pPr indent="0" marL="0">
              <a:buNone/>
            </a:pPr>
            <a:r>
              <a:rPr lang="en-US" sz="9600" b="1" dirty="0">
                <a:solidFill>
                  <a:srgbClr val="0D9488"/>
                </a:solidFill>
                <a:latin typeface="Georgia" pitchFamily="34" charset="0"/>
                <a:ea typeface="Georgia" pitchFamily="34" charset="-122"/>
                <a:cs typeface="Georgia" pitchFamily="34" charset="-120"/>
              </a:rPr>
              <a:t>06</a:t>
            </a:r>
            <a:endParaRPr lang="en-US" sz="9600" dirty="0"/>
          </a:p>
        </p:txBody>
      </p:sp>
      <p:sp>
        <p:nvSpPr>
          <p:cNvPr id="4" name="Text 2"/>
          <p:cNvSpPr/>
          <p:nvPr/>
        </p:nvSpPr>
        <p:spPr>
          <a:xfrm>
            <a:off x="868680" y="2971800"/>
            <a:ext cx="10424160" cy="10972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Do it safely</a:t>
            </a:r>
            <a:endParaRPr lang="en-US" sz="3800" dirty="0"/>
          </a:p>
        </p:txBody>
      </p:sp>
      <p:sp>
        <p:nvSpPr>
          <p:cNvPr id="5" name="Text 3"/>
          <p:cNvSpPr/>
          <p:nvPr/>
        </p:nvSpPr>
        <p:spPr>
          <a:xfrm>
            <a:off x="914400" y="4114800"/>
            <a:ext cx="10058400" cy="1097280"/>
          </a:xfrm>
          <a:prstGeom prst="rect">
            <a:avLst/>
          </a:prstGeom>
          <a:noFill/>
          <a:ln/>
        </p:spPr>
        <p:txBody>
          <a:bodyPr wrap="square" lIns="0" tIns="0" rIns="0" bIns="0" rtlCol="0" anchor="ctr"/>
          <a:lstStyle/>
          <a:p>
            <a:pPr indent="0" marL="0">
              <a:buNone/>
            </a:pPr>
            <a:r>
              <a:rPr lang="en-US" sz="1700" dirty="0">
                <a:solidFill>
                  <a:srgbClr val="5EEAD4"/>
                </a:solidFill>
                <a:latin typeface="Calibri" pitchFamily="34" charset="0"/>
                <a:ea typeface="Calibri" pitchFamily="34" charset="-122"/>
                <a:cs typeface="Calibri" pitchFamily="34" charset="-120"/>
              </a:rPr>
              <a:t>Protect the data - verify the output</a:t>
            </a:r>
            <a:endParaRPr lang="en-US" sz="1700" dirty="0"/>
          </a:p>
        </p:txBody>
      </p:sp>
      <p:sp>
        <p:nvSpPr>
          <p:cNvPr id="6" name="Shape 4"/>
          <p:cNvSpPr/>
          <p:nvPr/>
        </p:nvSpPr>
        <p:spPr>
          <a:xfrm>
            <a:off x="9921240" y="384048"/>
            <a:ext cx="1783080" cy="457200"/>
          </a:xfrm>
          <a:prstGeom prst="roundRect">
            <a:avLst>
              <a:gd name="adj" fmla="val 50000"/>
            </a:avLst>
          </a:prstGeom>
          <a:solidFill>
            <a:srgbClr val="0D9488"/>
          </a:solidFill>
          <a:ln/>
        </p:spPr>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52-57 min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417320"/>
          </a:xfrm>
          <a:prstGeom prst="rect">
            <a:avLst/>
          </a:prstGeom>
          <a:solidFill>
            <a:srgbClr val="FFFFFF"/>
          </a:solidFill>
          <a:ln/>
        </p:spPr>
      </p:sp>
      <p:sp>
        <p:nvSpPr>
          <p:cNvPr id="3" name="Shape 1"/>
          <p:cNvSpPr/>
          <p:nvPr/>
        </p:nvSpPr>
        <p:spPr>
          <a:xfrm>
            <a:off x="0" y="1417320"/>
            <a:ext cx="12161520" cy="45720"/>
          </a:xfrm>
          <a:prstGeom prst="rect">
            <a:avLst/>
          </a:prstGeom>
          <a:solidFill>
            <a:srgbClr val="0D9488"/>
          </a:solidFill>
          <a:ln/>
        </p:spPr>
      </p:sp>
      <p:sp>
        <p:nvSpPr>
          <p:cNvPr id="4" name="Text 2"/>
          <p:cNvSpPr/>
          <p:nvPr/>
        </p:nvSpPr>
        <p:spPr>
          <a:xfrm>
            <a:off x="548640" y="365760"/>
            <a:ext cx="86868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GUARDRAIL 1 - DATA</a:t>
            </a:r>
            <a:endParaRPr lang="en-US" sz="1200" dirty="0"/>
          </a:p>
        </p:txBody>
      </p:sp>
      <p:sp>
        <p:nvSpPr>
          <p:cNvPr id="5" name="Text 3"/>
          <p:cNvSpPr/>
          <p:nvPr/>
        </p:nvSpPr>
        <p:spPr>
          <a:xfrm>
            <a:off x="548640" y="658368"/>
            <a:ext cx="9326880" cy="73152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Handle sensitive business data responsibly</a:t>
            </a:r>
            <a:endParaRPr lang="en-US" sz="2700" dirty="0"/>
          </a:p>
        </p:txBody>
      </p:sp>
      <p:sp>
        <p:nvSpPr>
          <p:cNvPr id="6" name="Shape 4"/>
          <p:cNvSpPr/>
          <p:nvPr/>
        </p:nvSpPr>
        <p:spPr>
          <a:xfrm>
            <a:off x="9921240" y="384048"/>
            <a:ext cx="1783080" cy="457200"/>
          </a:xfrm>
          <a:prstGeom prst="roundRect">
            <a:avLst>
              <a:gd name="adj" fmla="val 50000"/>
            </a:avLst>
          </a:prstGeom>
          <a:solidFill>
            <a:srgbClr val="E6F4F2"/>
          </a:solidFill>
          <a:ln/>
        </p:spPr>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52-55 min</a:t>
            </a:r>
            <a:endParaRPr lang="en-US" sz="1200" dirty="0"/>
          </a:p>
        </p:txBody>
      </p:sp>
      <p:sp>
        <p:nvSpPr>
          <p:cNvPr id="8" name="Shape 6"/>
          <p:cNvSpPr/>
          <p:nvPr/>
        </p:nvSpPr>
        <p:spPr>
          <a:xfrm>
            <a:off x="548640" y="1828800"/>
            <a:ext cx="5440680" cy="3931920"/>
          </a:xfrm>
          <a:prstGeom prst="roundRect">
            <a:avLst>
              <a:gd name="adj" fmla="val 2326"/>
            </a:avLst>
          </a:prstGeom>
          <a:solidFill>
            <a:srgbClr val="FEF3C7"/>
          </a:solidFill>
          <a:ln w="19050">
            <a:solidFill>
              <a:srgbClr val="F59E0B"/>
            </a:solidFill>
            <a:prstDash val="solid"/>
          </a:ln>
        </p:spPr>
      </p:sp>
      <p:sp>
        <p:nvSpPr>
          <p:cNvPr id="9" name="Text 7"/>
          <p:cNvSpPr/>
          <p:nvPr/>
        </p:nvSpPr>
        <p:spPr>
          <a:xfrm>
            <a:off x="548640" y="2011680"/>
            <a:ext cx="5440680" cy="457200"/>
          </a:xfrm>
          <a:prstGeom prst="rect">
            <a:avLst/>
          </a:prstGeom>
          <a:noFill/>
          <a:ln/>
        </p:spPr>
        <p:txBody>
          <a:bodyPr wrap="square" lIns="0" tIns="0" rIns="0" bIns="0" rtlCol="0" anchor="ctr"/>
          <a:lstStyle/>
          <a:p>
            <a:pPr algn="ctr" indent="0" marL="0">
              <a:buNone/>
            </a:pPr>
            <a:r>
              <a:rPr lang="en-US" sz="1700" b="1" dirty="0">
                <a:solidFill>
                  <a:srgbClr val="B45309"/>
                </a:solidFill>
                <a:latin typeface="Calibri" pitchFamily="34" charset="0"/>
                <a:ea typeface="Calibri" pitchFamily="34" charset="-122"/>
                <a:cs typeface="Calibri" pitchFamily="34" charset="-120"/>
              </a:rPr>
              <a:t>Don't paste</a:t>
            </a:r>
            <a:endParaRPr lang="en-US" sz="1700" dirty="0"/>
          </a:p>
        </p:txBody>
      </p:sp>
      <p:sp>
        <p:nvSpPr>
          <p:cNvPr id="10" name="Text 8"/>
          <p:cNvSpPr/>
          <p:nvPr/>
        </p:nvSpPr>
        <p:spPr>
          <a:xfrm>
            <a:off x="914400" y="2651760"/>
            <a:ext cx="4846320" cy="640080"/>
          </a:xfrm>
          <a:prstGeom prst="rect">
            <a:avLst/>
          </a:prstGeom>
          <a:noFill/>
          <a:ln/>
        </p:spPr>
        <p:txBody>
          <a:bodyPr wrap="square" lIns="0" tIns="0" rIns="0" bIns="0"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Customer names, emails, account numbers</a:t>
            </a:r>
            <a:endParaRPr lang="en-US" sz="1400" dirty="0"/>
          </a:p>
        </p:txBody>
      </p:sp>
      <p:sp>
        <p:nvSpPr>
          <p:cNvPr id="11" name="Text 9"/>
          <p:cNvSpPr/>
          <p:nvPr/>
        </p:nvSpPr>
        <p:spPr>
          <a:xfrm>
            <a:off x="914400" y="3364992"/>
            <a:ext cx="4846320" cy="640080"/>
          </a:xfrm>
          <a:prstGeom prst="rect">
            <a:avLst/>
          </a:prstGeom>
          <a:noFill/>
          <a:ln/>
        </p:spPr>
        <p:txBody>
          <a:bodyPr wrap="square" lIns="0" tIns="0" rIns="0" bIns="0"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Anything covered by an NDA or contract</a:t>
            </a:r>
            <a:endParaRPr lang="en-US" sz="1400" dirty="0"/>
          </a:p>
        </p:txBody>
      </p:sp>
      <p:sp>
        <p:nvSpPr>
          <p:cNvPr id="12" name="Text 10"/>
          <p:cNvSpPr/>
          <p:nvPr/>
        </p:nvSpPr>
        <p:spPr>
          <a:xfrm>
            <a:off x="914400" y="4078224"/>
            <a:ext cx="4846320" cy="640080"/>
          </a:xfrm>
          <a:prstGeom prst="rect">
            <a:avLst/>
          </a:prstGeom>
          <a:noFill/>
          <a:ln/>
        </p:spPr>
        <p:txBody>
          <a:bodyPr wrap="square" lIns="0" tIns="0" rIns="0" bIns="0"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Salary, health, or other personal data</a:t>
            </a:r>
            <a:endParaRPr lang="en-US" sz="1400" dirty="0"/>
          </a:p>
        </p:txBody>
      </p:sp>
      <p:sp>
        <p:nvSpPr>
          <p:cNvPr id="13" name="Text 11"/>
          <p:cNvSpPr/>
          <p:nvPr/>
        </p:nvSpPr>
        <p:spPr>
          <a:xfrm>
            <a:off x="914400" y="4791456"/>
            <a:ext cx="4846320" cy="640080"/>
          </a:xfrm>
          <a:prstGeom prst="rect">
            <a:avLst/>
          </a:prstGeom>
          <a:noFill/>
          <a:ln/>
        </p:spPr>
        <p:txBody>
          <a:bodyPr wrap="square" lIns="0" tIns="0" rIns="0" bIns="0"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Real data into a free / personal AI account</a:t>
            </a:r>
            <a:endParaRPr lang="en-US" sz="1400" dirty="0"/>
          </a:p>
        </p:txBody>
      </p:sp>
      <p:sp>
        <p:nvSpPr>
          <p:cNvPr id="14" name="Shape 12"/>
          <p:cNvSpPr/>
          <p:nvPr/>
        </p:nvSpPr>
        <p:spPr>
          <a:xfrm>
            <a:off x="6172200" y="1828800"/>
            <a:ext cx="5440680" cy="3931920"/>
          </a:xfrm>
          <a:prstGeom prst="roundRect">
            <a:avLst>
              <a:gd name="adj" fmla="val 2326"/>
            </a:avLst>
          </a:prstGeom>
          <a:solidFill>
            <a:srgbClr val="E7F4EC"/>
          </a:solidFill>
          <a:ln w="19050">
            <a:solidFill>
              <a:srgbClr val="0D9488"/>
            </a:solidFill>
            <a:prstDash val="solid"/>
          </a:ln>
        </p:spPr>
      </p:sp>
      <p:sp>
        <p:nvSpPr>
          <p:cNvPr id="15" name="Text 13"/>
          <p:cNvSpPr/>
          <p:nvPr/>
        </p:nvSpPr>
        <p:spPr>
          <a:xfrm>
            <a:off x="6172200" y="2011680"/>
            <a:ext cx="5440680" cy="457200"/>
          </a:xfrm>
          <a:prstGeom prst="rect">
            <a:avLst/>
          </a:prstGeom>
          <a:noFill/>
          <a:ln/>
        </p:spPr>
        <p:txBody>
          <a:bodyPr wrap="square" lIns="0" tIns="0" rIns="0" bIns="0" rtlCol="0" anchor="ctr"/>
          <a:lstStyle/>
          <a:p>
            <a:pPr algn="ctr" indent="0" marL="0">
              <a:buNone/>
            </a:pPr>
            <a:r>
              <a:rPr lang="en-US" sz="1700" b="1" dirty="0">
                <a:solidFill>
                  <a:srgbClr val="0D9488"/>
                </a:solidFill>
                <a:latin typeface="Calibri" pitchFamily="34" charset="0"/>
                <a:ea typeface="Calibri" pitchFamily="34" charset="-122"/>
                <a:cs typeface="Calibri" pitchFamily="34" charset="-120"/>
              </a:rPr>
              <a:t>Do instead</a:t>
            </a:r>
            <a:endParaRPr lang="en-US" sz="1700" dirty="0"/>
          </a:p>
        </p:txBody>
      </p:sp>
      <p:sp>
        <p:nvSpPr>
          <p:cNvPr id="16" name="Text 14"/>
          <p:cNvSpPr/>
          <p:nvPr/>
        </p:nvSpPr>
        <p:spPr>
          <a:xfrm>
            <a:off x="6537960" y="2651760"/>
            <a:ext cx="4846320" cy="640080"/>
          </a:xfrm>
          <a:prstGeom prst="rect">
            <a:avLst/>
          </a:prstGeom>
          <a:noFill/>
          <a:ln/>
        </p:spPr>
        <p:txBody>
          <a:bodyPr wrap="square" lIns="0" tIns="0" rIns="0" bIns="0"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Anonymize: replace names with Customer A, B, C</a:t>
            </a:r>
            <a:endParaRPr lang="en-US" sz="1400" dirty="0"/>
          </a:p>
        </p:txBody>
      </p:sp>
      <p:sp>
        <p:nvSpPr>
          <p:cNvPr id="17" name="Text 15"/>
          <p:cNvSpPr/>
          <p:nvPr/>
        </p:nvSpPr>
        <p:spPr>
          <a:xfrm>
            <a:off x="6537960" y="3364992"/>
            <a:ext cx="4846320" cy="640080"/>
          </a:xfrm>
          <a:prstGeom prst="rect">
            <a:avLst/>
          </a:prstGeom>
          <a:noFill/>
          <a:ln/>
        </p:spPr>
        <p:txBody>
          <a:bodyPr wrap="square" lIns="0" tIns="0" rIns="0" bIns="0"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Share structure &amp; samples, not the full dataset</a:t>
            </a:r>
            <a:endParaRPr lang="en-US" sz="1400" dirty="0"/>
          </a:p>
        </p:txBody>
      </p:sp>
      <p:sp>
        <p:nvSpPr>
          <p:cNvPr id="18" name="Text 16"/>
          <p:cNvSpPr/>
          <p:nvPr/>
        </p:nvSpPr>
        <p:spPr>
          <a:xfrm>
            <a:off x="6537960" y="4078224"/>
            <a:ext cx="4846320" cy="640080"/>
          </a:xfrm>
          <a:prstGeom prst="rect">
            <a:avLst/>
          </a:prstGeom>
          <a:noFill/>
          <a:ln/>
        </p:spPr>
        <p:txBody>
          <a:bodyPr wrap="square" lIns="0" tIns="0" rIns="0" bIns="0"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Use your company's approved / enterprise AI tool</a:t>
            </a:r>
            <a:endParaRPr lang="en-US" sz="1400" dirty="0"/>
          </a:p>
        </p:txBody>
      </p:sp>
      <p:sp>
        <p:nvSpPr>
          <p:cNvPr id="19" name="Text 17"/>
          <p:cNvSpPr/>
          <p:nvPr/>
        </p:nvSpPr>
        <p:spPr>
          <a:xfrm>
            <a:off x="6537960" y="4791456"/>
            <a:ext cx="4846320" cy="640080"/>
          </a:xfrm>
          <a:prstGeom prst="rect">
            <a:avLst/>
          </a:prstGeom>
          <a:noFill/>
          <a:ln/>
        </p:spPr>
        <p:txBody>
          <a:bodyPr wrap="square" lIns="0" tIns="0" rIns="0" bIns="0"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Check your data policy before you paste - once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417320"/>
          </a:xfrm>
          <a:prstGeom prst="rect">
            <a:avLst/>
          </a:prstGeom>
          <a:solidFill>
            <a:srgbClr val="FFFFFF"/>
          </a:solidFill>
          <a:ln/>
        </p:spPr>
      </p:sp>
      <p:sp>
        <p:nvSpPr>
          <p:cNvPr id="3" name="Shape 1"/>
          <p:cNvSpPr/>
          <p:nvPr/>
        </p:nvSpPr>
        <p:spPr>
          <a:xfrm>
            <a:off x="0" y="1417320"/>
            <a:ext cx="12161520" cy="45720"/>
          </a:xfrm>
          <a:prstGeom prst="rect">
            <a:avLst/>
          </a:prstGeom>
          <a:solidFill>
            <a:srgbClr val="0D9488"/>
          </a:solidFill>
          <a:ln/>
        </p:spPr>
      </p:sp>
      <p:sp>
        <p:nvSpPr>
          <p:cNvPr id="4" name="Text 2"/>
          <p:cNvSpPr/>
          <p:nvPr/>
        </p:nvSpPr>
        <p:spPr>
          <a:xfrm>
            <a:off x="548640" y="365760"/>
            <a:ext cx="86868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GUARDRAIL 2 - TRUST</a:t>
            </a:r>
            <a:endParaRPr lang="en-US" sz="1200" dirty="0"/>
          </a:p>
        </p:txBody>
      </p:sp>
      <p:sp>
        <p:nvSpPr>
          <p:cNvPr id="5" name="Text 3"/>
          <p:cNvSpPr/>
          <p:nvPr/>
        </p:nvSpPr>
        <p:spPr>
          <a:xfrm>
            <a:off x="548640" y="658368"/>
            <a:ext cx="9326880" cy="73152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Verify before it reaches a stakeholder</a:t>
            </a:r>
            <a:endParaRPr lang="en-US" sz="2700" dirty="0"/>
          </a:p>
        </p:txBody>
      </p:sp>
      <p:sp>
        <p:nvSpPr>
          <p:cNvPr id="6" name="Shape 4"/>
          <p:cNvSpPr/>
          <p:nvPr/>
        </p:nvSpPr>
        <p:spPr>
          <a:xfrm>
            <a:off x="9921240" y="384048"/>
            <a:ext cx="1783080" cy="457200"/>
          </a:xfrm>
          <a:prstGeom prst="roundRect">
            <a:avLst>
              <a:gd name="adj" fmla="val 50000"/>
            </a:avLst>
          </a:prstGeom>
          <a:solidFill>
            <a:srgbClr val="E6F4F2"/>
          </a:solidFill>
          <a:ln/>
        </p:spPr>
      </p:sp>
      <p:sp>
        <p:nvSpPr>
          <p:cNvPr id="7" name="Text 5"/>
          <p:cNvSpPr/>
          <p:nvPr/>
        </p:nvSpPr>
        <p:spPr>
          <a:xfrm>
            <a:off x="9921240" y="384048"/>
            <a:ext cx="1783080" cy="457200"/>
          </a:xfrm>
          <a:prstGeom prst="rect">
            <a:avLst/>
          </a:prstGeom>
          <a:noFill/>
          <a:ln/>
        </p:spPr>
        <p:txBody>
          <a:bodyPr wrap="square" lIns="0" tIns="0" rIns="0" bIns="0" rtlCol="0" anchor="ctr"/>
          <a:lstStyle/>
          <a:p>
            <a:pPr algn="ctr" indent="0" marL="0">
              <a:buNone/>
            </a:pPr>
            <a:r>
              <a:rPr lang="en-US" sz="1200" b="1" dirty="0">
                <a:solidFill>
                  <a:srgbClr val="0D9488"/>
                </a:solidFill>
                <a:latin typeface="Calibri" pitchFamily="34" charset="0"/>
                <a:ea typeface="Calibri" pitchFamily="34" charset="-122"/>
                <a:cs typeface="Calibri" pitchFamily="34" charset="-120"/>
              </a:rPr>
              <a:t>55-57 min</a:t>
            </a:r>
            <a:endParaRPr lang="en-US" sz="1200" dirty="0"/>
          </a:p>
        </p:txBody>
      </p:sp>
      <p:sp>
        <p:nvSpPr>
          <p:cNvPr id="8" name="Shape 6"/>
          <p:cNvSpPr/>
          <p:nvPr/>
        </p:nvSpPr>
        <p:spPr>
          <a:xfrm>
            <a:off x="548640" y="1920240"/>
            <a:ext cx="5486400" cy="1645920"/>
          </a:xfrm>
          <a:prstGeom prst="roundRect">
            <a:avLst>
              <a:gd name="adj" fmla="val 5556"/>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sp>
      <p:sp>
        <p:nvSpPr>
          <p:cNvPr id="9" name="Shape 7"/>
          <p:cNvSpPr/>
          <p:nvPr/>
        </p:nvSpPr>
        <p:spPr>
          <a:xfrm>
            <a:off x="822960" y="2194560"/>
            <a:ext cx="502920" cy="502920"/>
          </a:xfrm>
          <a:prstGeom prst="ellipse">
            <a:avLst/>
          </a:prstGeom>
          <a:solidFill>
            <a:srgbClr val="0D9488"/>
          </a:solidFill>
          <a:ln/>
        </p:spPr>
      </p:sp>
      <p:sp>
        <p:nvSpPr>
          <p:cNvPr id="10" name="Text 8"/>
          <p:cNvSpPr/>
          <p:nvPr/>
        </p:nvSpPr>
        <p:spPr>
          <a:xfrm>
            <a:off x="822960" y="21945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Text 9"/>
          <p:cNvSpPr/>
          <p:nvPr/>
        </p:nvSpPr>
        <p:spPr>
          <a:xfrm>
            <a:off x="1554480" y="2212848"/>
            <a:ext cx="4206240" cy="45720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Numbers tie out</a:t>
            </a:r>
            <a:endParaRPr lang="en-US" sz="1600" dirty="0"/>
          </a:p>
        </p:txBody>
      </p:sp>
      <p:sp>
        <p:nvSpPr>
          <p:cNvPr id="12" name="Text 10"/>
          <p:cNvSpPr/>
          <p:nvPr/>
        </p:nvSpPr>
        <p:spPr>
          <a:xfrm>
            <a:off x="841248" y="2834640"/>
            <a:ext cx="4937760" cy="64008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Totals &amp; counts match the source - spot-check by hand</a:t>
            </a:r>
            <a:endParaRPr lang="en-US" sz="1300" dirty="0"/>
          </a:p>
        </p:txBody>
      </p:sp>
      <p:sp>
        <p:nvSpPr>
          <p:cNvPr id="13" name="Shape 11"/>
          <p:cNvSpPr/>
          <p:nvPr/>
        </p:nvSpPr>
        <p:spPr>
          <a:xfrm>
            <a:off x="6263640" y="1920240"/>
            <a:ext cx="5486400" cy="1645920"/>
          </a:xfrm>
          <a:prstGeom prst="roundRect">
            <a:avLst>
              <a:gd name="adj" fmla="val 5556"/>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sp>
      <p:sp>
        <p:nvSpPr>
          <p:cNvPr id="14" name="Shape 12"/>
          <p:cNvSpPr/>
          <p:nvPr/>
        </p:nvSpPr>
        <p:spPr>
          <a:xfrm>
            <a:off x="6537960" y="2194560"/>
            <a:ext cx="502920" cy="502920"/>
          </a:xfrm>
          <a:prstGeom prst="ellipse">
            <a:avLst/>
          </a:prstGeom>
          <a:solidFill>
            <a:srgbClr val="0D9488"/>
          </a:solidFill>
          <a:ln/>
        </p:spPr>
      </p:sp>
      <p:sp>
        <p:nvSpPr>
          <p:cNvPr id="15" name="Text 13"/>
          <p:cNvSpPr/>
          <p:nvPr/>
        </p:nvSpPr>
        <p:spPr>
          <a:xfrm>
            <a:off x="6537960" y="21945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7269480" y="2212848"/>
            <a:ext cx="4206240" cy="45720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No invented data</a:t>
            </a:r>
            <a:endParaRPr lang="en-US" sz="1600" dirty="0"/>
          </a:p>
        </p:txBody>
      </p:sp>
      <p:sp>
        <p:nvSpPr>
          <p:cNvPr id="17" name="Text 15"/>
          <p:cNvSpPr/>
          <p:nvPr/>
        </p:nvSpPr>
        <p:spPr>
          <a:xfrm>
            <a:off x="6556248" y="2834640"/>
            <a:ext cx="4937760" cy="64008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Nothing was filled in, guessed, or quietly 'fixed'</a:t>
            </a:r>
            <a:endParaRPr lang="en-US" sz="1300" dirty="0"/>
          </a:p>
        </p:txBody>
      </p:sp>
      <p:sp>
        <p:nvSpPr>
          <p:cNvPr id="18" name="Shape 16"/>
          <p:cNvSpPr/>
          <p:nvPr/>
        </p:nvSpPr>
        <p:spPr>
          <a:xfrm>
            <a:off x="548640" y="3749040"/>
            <a:ext cx="5486400" cy="1645920"/>
          </a:xfrm>
          <a:prstGeom prst="roundRect">
            <a:avLst>
              <a:gd name="adj" fmla="val 5556"/>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sp>
      <p:sp>
        <p:nvSpPr>
          <p:cNvPr id="19" name="Shape 17"/>
          <p:cNvSpPr/>
          <p:nvPr/>
        </p:nvSpPr>
        <p:spPr>
          <a:xfrm>
            <a:off x="822960" y="4023360"/>
            <a:ext cx="502920" cy="502920"/>
          </a:xfrm>
          <a:prstGeom prst="ellipse">
            <a:avLst/>
          </a:prstGeom>
          <a:solidFill>
            <a:srgbClr val="0D9488"/>
          </a:solidFill>
          <a:ln/>
        </p:spPr>
      </p:sp>
      <p:sp>
        <p:nvSpPr>
          <p:cNvPr id="20" name="Text 18"/>
          <p:cNvSpPr/>
          <p:nvPr/>
        </p:nvSpPr>
        <p:spPr>
          <a:xfrm>
            <a:off x="822960" y="40233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9"/>
          <p:cNvSpPr/>
          <p:nvPr/>
        </p:nvSpPr>
        <p:spPr>
          <a:xfrm>
            <a:off x="1554480" y="4041648"/>
            <a:ext cx="4206240" cy="45720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Right scope</a:t>
            </a:r>
            <a:endParaRPr lang="en-US" sz="1600" dirty="0"/>
          </a:p>
        </p:txBody>
      </p:sp>
      <p:sp>
        <p:nvSpPr>
          <p:cNvPr id="22" name="Text 20"/>
          <p:cNvSpPr/>
          <p:nvPr/>
        </p:nvSpPr>
        <p:spPr>
          <a:xfrm>
            <a:off x="841248" y="4663440"/>
            <a:ext cx="4937760" cy="64008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It answered YOUR question, not a nearby one</a:t>
            </a:r>
            <a:endParaRPr lang="en-US" sz="1300" dirty="0"/>
          </a:p>
        </p:txBody>
      </p:sp>
      <p:sp>
        <p:nvSpPr>
          <p:cNvPr id="23" name="Shape 21"/>
          <p:cNvSpPr/>
          <p:nvPr/>
        </p:nvSpPr>
        <p:spPr>
          <a:xfrm>
            <a:off x="6263640" y="3749040"/>
            <a:ext cx="5486400" cy="1645920"/>
          </a:xfrm>
          <a:prstGeom prst="roundRect">
            <a:avLst>
              <a:gd name="adj" fmla="val 5556"/>
            </a:avLst>
          </a:prstGeom>
          <a:solidFill>
            <a:srgbClr val="FFFFFF"/>
          </a:solidFill>
          <a:ln w="12700">
            <a:solidFill>
              <a:srgbClr val="E2E8F0"/>
            </a:solidFill>
            <a:prstDash val="solid"/>
          </a:ln>
          <a:effectLst>
            <a:outerShdw sx="100000" sy="100000" kx="0" ky="0" algn="bl" rotWithShape="0" blurRad="88900" dist="38100" dir="8100000">
              <a:srgbClr val="000000">
                <a:alpha val="12000"/>
              </a:srgbClr>
            </a:outerShdw>
          </a:effectLst>
        </p:spPr>
      </p:sp>
      <p:sp>
        <p:nvSpPr>
          <p:cNvPr id="24" name="Shape 22"/>
          <p:cNvSpPr/>
          <p:nvPr/>
        </p:nvSpPr>
        <p:spPr>
          <a:xfrm>
            <a:off x="6537960" y="4023360"/>
            <a:ext cx="502920" cy="502920"/>
          </a:xfrm>
          <a:prstGeom prst="ellipse">
            <a:avLst/>
          </a:prstGeom>
          <a:solidFill>
            <a:srgbClr val="0D9488"/>
          </a:solidFill>
          <a:ln/>
        </p:spPr>
      </p:sp>
      <p:sp>
        <p:nvSpPr>
          <p:cNvPr id="25" name="Text 23"/>
          <p:cNvSpPr/>
          <p:nvPr/>
        </p:nvSpPr>
        <p:spPr>
          <a:xfrm>
            <a:off x="6537960" y="40233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4"/>
          <p:cNvSpPr/>
          <p:nvPr/>
        </p:nvSpPr>
        <p:spPr>
          <a:xfrm>
            <a:off x="7269480" y="4041648"/>
            <a:ext cx="4206240" cy="45720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You can explain it</a:t>
            </a:r>
            <a:endParaRPr lang="en-US" sz="1600" dirty="0"/>
          </a:p>
        </p:txBody>
      </p:sp>
      <p:sp>
        <p:nvSpPr>
          <p:cNvPr id="27" name="Text 25"/>
          <p:cNvSpPr/>
          <p:nvPr/>
        </p:nvSpPr>
        <p:spPr>
          <a:xfrm>
            <a:off x="6556248" y="4663440"/>
            <a:ext cx="4937760" cy="64008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If asked 'how do you know?', you have an answer</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D9488"/>
          </a:solidFill>
          <a:ln/>
        </p:spPr>
      </p:sp>
      <p:sp>
        <p:nvSpPr>
          <p:cNvPr id="3" name="Text 1"/>
          <p:cNvSpPr/>
          <p:nvPr/>
        </p:nvSpPr>
        <p:spPr>
          <a:xfrm>
            <a:off x="960120" y="640080"/>
            <a:ext cx="10058400" cy="365760"/>
          </a:xfrm>
          <a:prstGeom prst="rect">
            <a:avLst/>
          </a:prstGeom>
          <a:noFill/>
          <a:ln/>
        </p:spPr>
        <p:txBody>
          <a:bodyPr wrap="square" lIns="0" tIns="0" rIns="0" bIns="0" rtlCol="0" anchor="ctr"/>
          <a:lstStyle/>
          <a:p>
            <a:pPr indent="0" marL="0">
              <a:buNone/>
            </a:pPr>
            <a:r>
              <a:rPr lang="en-US" sz="1300" b="1" spc="200" kern="0" dirty="0">
                <a:solidFill>
                  <a:srgbClr val="5EEAD4"/>
                </a:solidFill>
                <a:latin typeface="Calibri" pitchFamily="34" charset="0"/>
                <a:ea typeface="Calibri" pitchFamily="34" charset="-122"/>
                <a:cs typeface="Calibri" pitchFamily="34" charset="-120"/>
              </a:rPr>
              <a:t>YOUR TAKEAWAY</a:t>
            </a:r>
            <a:endParaRPr lang="en-US" sz="1300" dirty="0"/>
          </a:p>
        </p:txBody>
      </p:sp>
      <p:sp>
        <p:nvSpPr>
          <p:cNvPr id="4" name="Text 2"/>
          <p:cNvSpPr/>
          <p:nvPr/>
        </p:nvSpPr>
        <p:spPr>
          <a:xfrm>
            <a:off x="914400" y="1051560"/>
            <a:ext cx="10332720" cy="82296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One report. This week.</a:t>
            </a:r>
            <a:endParaRPr lang="en-US" sz="3400" dirty="0"/>
          </a:p>
        </p:txBody>
      </p:sp>
      <p:sp>
        <p:nvSpPr>
          <p:cNvPr id="5" name="Shape 3"/>
          <p:cNvSpPr/>
          <p:nvPr/>
        </p:nvSpPr>
        <p:spPr>
          <a:xfrm>
            <a:off x="914400" y="2148840"/>
            <a:ext cx="10332720" cy="749808"/>
          </a:xfrm>
          <a:prstGeom prst="roundRect">
            <a:avLst>
              <a:gd name="adj" fmla="val 9756"/>
            </a:avLst>
          </a:prstGeom>
          <a:solidFill>
            <a:srgbClr val="1E293B"/>
          </a:solidFill>
          <a:ln w="12700">
            <a:solidFill>
              <a:srgbClr val="334155"/>
            </a:solidFill>
            <a:prstDash val="solid"/>
          </a:ln>
        </p:spPr>
      </p:sp>
      <p:sp>
        <p:nvSpPr>
          <p:cNvPr id="6" name="Shape 4"/>
          <p:cNvSpPr/>
          <p:nvPr/>
        </p:nvSpPr>
        <p:spPr>
          <a:xfrm>
            <a:off x="1143000" y="2295144"/>
            <a:ext cx="502920" cy="502920"/>
          </a:xfrm>
          <a:prstGeom prst="ellipse">
            <a:avLst/>
          </a:prstGeom>
          <a:solidFill>
            <a:srgbClr val="0D9488"/>
          </a:solidFill>
          <a:ln/>
        </p:spPr>
      </p:sp>
      <p:sp>
        <p:nvSpPr>
          <p:cNvPr id="7" name="Text 5"/>
          <p:cNvSpPr/>
          <p:nvPr/>
        </p:nvSpPr>
        <p:spPr>
          <a:xfrm>
            <a:off x="1143000" y="229514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828800" y="2148840"/>
            <a:ext cx="2377440" cy="7498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Clean</a:t>
            </a:r>
            <a:endParaRPr lang="en-US" sz="1500" dirty="0"/>
          </a:p>
        </p:txBody>
      </p:sp>
      <p:sp>
        <p:nvSpPr>
          <p:cNvPr id="9" name="Text 7"/>
          <p:cNvSpPr/>
          <p:nvPr/>
        </p:nvSpPr>
        <p:spPr>
          <a:xfrm>
            <a:off x="4114800" y="2148840"/>
            <a:ext cx="6949440" cy="749808"/>
          </a:xfrm>
          <a:prstGeom prst="rect">
            <a:avLst/>
          </a:prstGeom>
          <a:noFill/>
          <a:ln/>
        </p:spPr>
        <p:txBody>
          <a:bodyPr wrap="square" lIns="0" tIns="0" rIns="0" bIns="0" rtlCol="0" anchor="ctr"/>
          <a:lstStyle/>
          <a:p>
            <a:pPr indent="0" marL="0">
              <a:buNone/>
            </a:pPr>
            <a:r>
              <a:rPr lang="en-US" sz="1350" dirty="0">
                <a:solidFill>
                  <a:srgbClr val="CBD5E1"/>
                </a:solidFill>
                <a:latin typeface="Calibri" pitchFamily="34" charset="0"/>
                <a:ea typeface="Calibri" pitchFamily="34" charset="-122"/>
                <a:cs typeface="Calibri" pitchFamily="34" charset="-120"/>
              </a:rPr>
              <a:t>Run the cleanup prompt on your next real export</a:t>
            </a:r>
            <a:endParaRPr lang="en-US" sz="1350" dirty="0"/>
          </a:p>
        </p:txBody>
      </p:sp>
      <p:sp>
        <p:nvSpPr>
          <p:cNvPr id="10" name="Shape 8"/>
          <p:cNvSpPr/>
          <p:nvPr/>
        </p:nvSpPr>
        <p:spPr>
          <a:xfrm>
            <a:off x="914400" y="2990088"/>
            <a:ext cx="10332720" cy="749808"/>
          </a:xfrm>
          <a:prstGeom prst="roundRect">
            <a:avLst>
              <a:gd name="adj" fmla="val 9756"/>
            </a:avLst>
          </a:prstGeom>
          <a:solidFill>
            <a:srgbClr val="1E293B"/>
          </a:solidFill>
          <a:ln w="12700">
            <a:solidFill>
              <a:srgbClr val="334155"/>
            </a:solidFill>
            <a:prstDash val="solid"/>
          </a:ln>
        </p:spPr>
      </p:sp>
      <p:sp>
        <p:nvSpPr>
          <p:cNvPr id="11" name="Shape 9"/>
          <p:cNvSpPr/>
          <p:nvPr/>
        </p:nvSpPr>
        <p:spPr>
          <a:xfrm>
            <a:off x="1143000" y="3136392"/>
            <a:ext cx="502920" cy="502920"/>
          </a:xfrm>
          <a:prstGeom prst="ellipse">
            <a:avLst/>
          </a:prstGeom>
          <a:solidFill>
            <a:srgbClr val="0D9488"/>
          </a:solidFill>
          <a:ln/>
        </p:spPr>
      </p:sp>
      <p:sp>
        <p:nvSpPr>
          <p:cNvPr id="12" name="Text 10"/>
          <p:cNvSpPr/>
          <p:nvPr/>
        </p:nvSpPr>
        <p:spPr>
          <a:xfrm>
            <a:off x="1143000" y="31363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828800" y="2990088"/>
            <a:ext cx="2377440" cy="7498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Reconcile</a:t>
            </a:r>
            <a:endParaRPr lang="en-US" sz="1500" dirty="0"/>
          </a:p>
        </p:txBody>
      </p:sp>
      <p:sp>
        <p:nvSpPr>
          <p:cNvPr id="14" name="Text 12"/>
          <p:cNvSpPr/>
          <p:nvPr/>
        </p:nvSpPr>
        <p:spPr>
          <a:xfrm>
            <a:off x="4114800" y="2990088"/>
            <a:ext cx="6949440" cy="749808"/>
          </a:xfrm>
          <a:prstGeom prst="rect">
            <a:avLst/>
          </a:prstGeom>
          <a:noFill/>
          <a:ln/>
        </p:spPr>
        <p:txBody>
          <a:bodyPr wrap="square" lIns="0" tIns="0" rIns="0" bIns="0" rtlCol="0" anchor="ctr"/>
          <a:lstStyle/>
          <a:p>
            <a:pPr indent="0" marL="0">
              <a:buNone/>
            </a:pPr>
            <a:r>
              <a:rPr lang="en-US" sz="1350" dirty="0">
                <a:solidFill>
                  <a:srgbClr val="CBD5E1"/>
                </a:solidFill>
                <a:latin typeface="Calibri" pitchFamily="34" charset="0"/>
                <a:ea typeface="Calibri" pitchFamily="34" charset="-122"/>
                <a:cs typeface="Calibri" pitchFamily="34" charset="-120"/>
              </a:rPr>
              <a:t>Match it to one other source - check the confidence</a:t>
            </a:r>
            <a:endParaRPr lang="en-US" sz="1350" dirty="0"/>
          </a:p>
        </p:txBody>
      </p:sp>
      <p:sp>
        <p:nvSpPr>
          <p:cNvPr id="15" name="Shape 13"/>
          <p:cNvSpPr/>
          <p:nvPr/>
        </p:nvSpPr>
        <p:spPr>
          <a:xfrm>
            <a:off x="914400" y="3831336"/>
            <a:ext cx="10332720" cy="749808"/>
          </a:xfrm>
          <a:prstGeom prst="roundRect">
            <a:avLst>
              <a:gd name="adj" fmla="val 9756"/>
            </a:avLst>
          </a:prstGeom>
          <a:solidFill>
            <a:srgbClr val="1E293B"/>
          </a:solidFill>
          <a:ln w="12700">
            <a:solidFill>
              <a:srgbClr val="334155"/>
            </a:solidFill>
            <a:prstDash val="solid"/>
          </a:ln>
        </p:spPr>
      </p:sp>
      <p:sp>
        <p:nvSpPr>
          <p:cNvPr id="16" name="Shape 14"/>
          <p:cNvSpPr/>
          <p:nvPr/>
        </p:nvSpPr>
        <p:spPr>
          <a:xfrm>
            <a:off x="1143000" y="3977640"/>
            <a:ext cx="502920" cy="502920"/>
          </a:xfrm>
          <a:prstGeom prst="ellipse">
            <a:avLst/>
          </a:prstGeom>
          <a:solidFill>
            <a:srgbClr val="0D9488"/>
          </a:solidFill>
          <a:ln/>
        </p:spPr>
      </p:sp>
      <p:sp>
        <p:nvSpPr>
          <p:cNvPr id="17" name="Text 15"/>
          <p:cNvSpPr/>
          <p:nvPr/>
        </p:nvSpPr>
        <p:spPr>
          <a:xfrm>
            <a:off x="1143000" y="39776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1828800" y="3831336"/>
            <a:ext cx="2377440" cy="7498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Generate</a:t>
            </a:r>
            <a:endParaRPr lang="en-US" sz="1500" dirty="0"/>
          </a:p>
        </p:txBody>
      </p:sp>
      <p:sp>
        <p:nvSpPr>
          <p:cNvPr id="19" name="Text 17"/>
          <p:cNvSpPr/>
          <p:nvPr/>
        </p:nvSpPr>
        <p:spPr>
          <a:xfrm>
            <a:off x="4114800" y="3831336"/>
            <a:ext cx="6949440" cy="749808"/>
          </a:xfrm>
          <a:prstGeom prst="rect">
            <a:avLst/>
          </a:prstGeom>
          <a:noFill/>
          <a:ln/>
        </p:spPr>
        <p:txBody>
          <a:bodyPr wrap="square" lIns="0" tIns="0" rIns="0" bIns="0" rtlCol="0" anchor="ctr"/>
          <a:lstStyle/>
          <a:p>
            <a:pPr indent="0" marL="0">
              <a:buNone/>
            </a:pPr>
            <a:r>
              <a:rPr lang="en-US" sz="1350" dirty="0">
                <a:solidFill>
                  <a:srgbClr val="CBD5E1"/>
                </a:solidFill>
                <a:latin typeface="Calibri" pitchFamily="34" charset="0"/>
                <a:ea typeface="Calibri" pitchFamily="34" charset="-122"/>
                <a:cs typeface="Calibri" pitchFamily="34" charset="-120"/>
              </a:rPr>
              <a:t>Ask for one Excel formula you'd have Googled</a:t>
            </a:r>
            <a:endParaRPr lang="en-US" sz="1350" dirty="0"/>
          </a:p>
        </p:txBody>
      </p:sp>
      <p:sp>
        <p:nvSpPr>
          <p:cNvPr id="20" name="Shape 18"/>
          <p:cNvSpPr/>
          <p:nvPr/>
        </p:nvSpPr>
        <p:spPr>
          <a:xfrm>
            <a:off x="914400" y="4672584"/>
            <a:ext cx="10332720" cy="749808"/>
          </a:xfrm>
          <a:prstGeom prst="roundRect">
            <a:avLst>
              <a:gd name="adj" fmla="val 9756"/>
            </a:avLst>
          </a:prstGeom>
          <a:solidFill>
            <a:srgbClr val="1E293B"/>
          </a:solidFill>
          <a:ln w="12700">
            <a:solidFill>
              <a:srgbClr val="334155"/>
            </a:solidFill>
            <a:prstDash val="solid"/>
          </a:ln>
        </p:spPr>
      </p:sp>
      <p:sp>
        <p:nvSpPr>
          <p:cNvPr id="21" name="Shape 19"/>
          <p:cNvSpPr/>
          <p:nvPr/>
        </p:nvSpPr>
        <p:spPr>
          <a:xfrm>
            <a:off x="1143000" y="4818888"/>
            <a:ext cx="502920" cy="502920"/>
          </a:xfrm>
          <a:prstGeom prst="ellipse">
            <a:avLst/>
          </a:prstGeom>
          <a:solidFill>
            <a:srgbClr val="0D9488"/>
          </a:solidFill>
          <a:ln/>
        </p:spPr>
      </p:sp>
      <p:sp>
        <p:nvSpPr>
          <p:cNvPr id="22" name="Text 20"/>
          <p:cNvSpPr/>
          <p:nvPr/>
        </p:nvSpPr>
        <p:spPr>
          <a:xfrm>
            <a:off x="1143000" y="48188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1828800" y="4672584"/>
            <a:ext cx="2377440" cy="7498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Narrate</a:t>
            </a:r>
            <a:endParaRPr lang="en-US" sz="1500" dirty="0"/>
          </a:p>
        </p:txBody>
      </p:sp>
      <p:sp>
        <p:nvSpPr>
          <p:cNvPr id="24" name="Text 22"/>
          <p:cNvSpPr/>
          <p:nvPr/>
        </p:nvSpPr>
        <p:spPr>
          <a:xfrm>
            <a:off x="4114800" y="4672584"/>
            <a:ext cx="6949440" cy="749808"/>
          </a:xfrm>
          <a:prstGeom prst="rect">
            <a:avLst/>
          </a:prstGeom>
          <a:noFill/>
          <a:ln/>
        </p:spPr>
        <p:txBody>
          <a:bodyPr wrap="square" lIns="0" tIns="0" rIns="0" bIns="0" rtlCol="0" anchor="ctr"/>
          <a:lstStyle/>
          <a:p>
            <a:pPr indent="0" marL="0">
              <a:buNone/>
            </a:pPr>
            <a:r>
              <a:rPr lang="en-US" sz="1350" dirty="0">
                <a:solidFill>
                  <a:srgbClr val="CBD5E1"/>
                </a:solidFill>
                <a:latin typeface="Calibri" pitchFamily="34" charset="0"/>
                <a:ea typeface="Calibri" pitchFamily="34" charset="-122"/>
                <a:cs typeface="Calibri" pitchFamily="34" charset="-120"/>
              </a:rPr>
              <a:t>Draft the exec summary from your verified numbers</a:t>
            </a:r>
            <a:endParaRPr lang="en-US" sz="1350" dirty="0"/>
          </a:p>
        </p:txBody>
      </p:sp>
      <p:sp>
        <p:nvSpPr>
          <p:cNvPr id="25" name="Shape 23"/>
          <p:cNvSpPr/>
          <p:nvPr/>
        </p:nvSpPr>
        <p:spPr>
          <a:xfrm>
            <a:off x="914400" y="5513832"/>
            <a:ext cx="10332720" cy="749808"/>
          </a:xfrm>
          <a:prstGeom prst="roundRect">
            <a:avLst>
              <a:gd name="adj" fmla="val 9756"/>
            </a:avLst>
          </a:prstGeom>
          <a:solidFill>
            <a:srgbClr val="1E293B"/>
          </a:solidFill>
          <a:ln w="12700">
            <a:solidFill>
              <a:srgbClr val="334155"/>
            </a:solidFill>
            <a:prstDash val="solid"/>
          </a:ln>
        </p:spPr>
      </p:sp>
      <p:sp>
        <p:nvSpPr>
          <p:cNvPr id="26" name="Shape 24"/>
          <p:cNvSpPr/>
          <p:nvPr/>
        </p:nvSpPr>
        <p:spPr>
          <a:xfrm>
            <a:off x="1143000" y="5660136"/>
            <a:ext cx="502920" cy="502920"/>
          </a:xfrm>
          <a:prstGeom prst="ellipse">
            <a:avLst/>
          </a:prstGeom>
          <a:solidFill>
            <a:srgbClr val="F59E0B"/>
          </a:solidFill>
          <a:ln/>
        </p:spPr>
      </p:sp>
      <p:sp>
        <p:nvSpPr>
          <p:cNvPr id="27" name="Text 25"/>
          <p:cNvSpPr/>
          <p:nvPr/>
        </p:nvSpPr>
        <p:spPr>
          <a:xfrm>
            <a:off x="1143000" y="566013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Text 26"/>
          <p:cNvSpPr/>
          <p:nvPr/>
        </p:nvSpPr>
        <p:spPr>
          <a:xfrm>
            <a:off x="1828800" y="5513832"/>
            <a:ext cx="2377440" cy="7498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Safeguard</a:t>
            </a:r>
            <a:endParaRPr lang="en-US" sz="1500" dirty="0"/>
          </a:p>
        </p:txBody>
      </p:sp>
      <p:sp>
        <p:nvSpPr>
          <p:cNvPr id="29" name="Text 27"/>
          <p:cNvSpPr/>
          <p:nvPr/>
        </p:nvSpPr>
        <p:spPr>
          <a:xfrm>
            <a:off x="4114800" y="5513832"/>
            <a:ext cx="6949440" cy="749808"/>
          </a:xfrm>
          <a:prstGeom prst="rect">
            <a:avLst/>
          </a:prstGeom>
          <a:noFill/>
          <a:ln/>
        </p:spPr>
        <p:txBody>
          <a:bodyPr wrap="square" lIns="0" tIns="0" rIns="0" bIns="0" rtlCol="0" anchor="ctr"/>
          <a:lstStyle/>
          <a:p>
            <a:pPr indent="0" marL="0">
              <a:buNone/>
            </a:pPr>
            <a:r>
              <a:rPr lang="en-US" sz="1350" dirty="0">
                <a:solidFill>
                  <a:srgbClr val="CBD5E1"/>
                </a:solidFill>
                <a:latin typeface="Calibri" pitchFamily="34" charset="0"/>
                <a:ea typeface="Calibri" pitchFamily="34" charset="-122"/>
                <a:cs typeface="Calibri" pitchFamily="34" charset="-120"/>
              </a:rPr>
              <a:t>Anonymize first - verify before you send</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61520" cy="201168"/>
          </a:xfrm>
          <a:prstGeom prst="rect">
            <a:avLst/>
          </a:prstGeom>
          <a:solidFill>
            <a:srgbClr val="0D9488"/>
          </a:solidFill>
          <a:ln/>
        </p:spPr>
      </p:sp>
      <p:sp>
        <p:nvSpPr>
          <p:cNvPr id="3" name="Shape 1"/>
          <p:cNvSpPr/>
          <p:nvPr/>
        </p:nvSpPr>
        <p:spPr>
          <a:xfrm>
            <a:off x="0" y="6656832"/>
            <a:ext cx="12161520" cy="201168"/>
          </a:xfrm>
          <a:prstGeom prst="rect">
            <a:avLst/>
          </a:prstGeom>
          <a:solidFill>
            <a:srgbClr val="0D9488"/>
          </a:solidFill>
          <a:ln/>
        </p:spPr>
      </p:sp>
      <p:sp>
        <p:nvSpPr>
          <p:cNvPr id="4" name="Text 2"/>
          <p:cNvSpPr/>
          <p:nvPr/>
        </p:nvSpPr>
        <p:spPr>
          <a:xfrm>
            <a:off x="914400" y="2194560"/>
            <a:ext cx="10332720" cy="91440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Thank you</a:t>
            </a:r>
            <a:endParaRPr lang="en-US" sz="4800" dirty="0"/>
          </a:p>
        </p:txBody>
      </p:sp>
      <p:sp>
        <p:nvSpPr>
          <p:cNvPr id="5" name="Text 3"/>
          <p:cNvSpPr/>
          <p:nvPr/>
        </p:nvSpPr>
        <p:spPr>
          <a:xfrm>
            <a:off x="914400" y="3200400"/>
            <a:ext cx="10332720" cy="731520"/>
          </a:xfrm>
          <a:prstGeom prst="rect">
            <a:avLst/>
          </a:prstGeom>
          <a:noFill/>
          <a:ln/>
        </p:spPr>
        <p:txBody>
          <a:bodyPr wrap="square" lIns="0" tIns="0" rIns="0" bIns="0" rtlCol="0" anchor="ctr"/>
          <a:lstStyle/>
          <a:p>
            <a:pPr indent="0" marL="0">
              <a:buNone/>
            </a:pPr>
            <a:r>
              <a:rPr lang="en-US" sz="2800" i="1" dirty="0">
                <a:solidFill>
                  <a:srgbClr val="0D9488"/>
                </a:solidFill>
                <a:latin typeface="Georgia" pitchFamily="34" charset="0"/>
                <a:ea typeface="Georgia" pitchFamily="34" charset="-122"/>
                <a:cs typeface="Georgia" pitchFamily="34" charset="-120"/>
              </a:rPr>
              <a:t>Questions?</a:t>
            </a:r>
            <a:endParaRPr lang="en-US" sz="2800" dirty="0"/>
          </a:p>
        </p:txBody>
      </p:sp>
      <p:sp>
        <p:nvSpPr>
          <p:cNvPr id="6" name="Text 4"/>
          <p:cNvSpPr/>
          <p:nvPr/>
        </p:nvSpPr>
        <p:spPr>
          <a:xfrm>
            <a:off x="914400" y="4206240"/>
            <a:ext cx="10058400" cy="548640"/>
          </a:xfrm>
          <a:prstGeom prst="rect">
            <a:avLst/>
          </a:prstGeom>
          <a:noFill/>
          <a:ln/>
        </p:spPr>
        <p:txBody>
          <a:bodyPr wrap="square" lIns="0" tIns="0" rIns="0" bIns="0" rtlCol="0" anchor="ctr"/>
          <a:lstStyle/>
          <a:p>
            <a:pPr indent="0" marL="0">
              <a:buNone/>
            </a:pPr>
            <a:r>
              <a:rPr lang="en-US" sz="1700" dirty="0">
                <a:solidFill>
                  <a:srgbClr val="CBD5E1"/>
                </a:solidFill>
                <a:latin typeface="Calibri" pitchFamily="34" charset="0"/>
                <a:ea typeface="Calibri" pitchFamily="34" charset="-122"/>
                <a:cs typeface="Calibri" pitchFamily="34" charset="-120"/>
              </a:rPr>
              <a:t>Delegate the grunt work. Keep the judgment. Verify everything.</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Business Analysts: Faster Reporting and Data Cleanup</dc:title>
  <dc:subject>PptxGenJS Presentation</dc:subject>
  <dc:creator>Facilitator</dc:creator>
  <cp:lastModifiedBy>Facilitator</cp:lastModifiedBy>
  <cp:revision>1</cp:revision>
  <dcterms:created xsi:type="dcterms:W3CDTF">2026-06-09T14:36:38Z</dcterms:created>
  <dcterms:modified xsi:type="dcterms:W3CDTF">2026-06-09T14:36:38Z</dcterms:modified>
</cp:coreProperties>
</file>